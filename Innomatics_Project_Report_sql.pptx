
<file path=[Content_Types].xml><?xml version="1.0" encoding="utf-8"?>
<Types xmlns="http://schemas.openxmlformats.org/package/2006/content-types">
  <Default Extension="fntdata" ContentType="application/x-fontdata"/>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899" r:id="rId1"/>
  </p:sldMasterIdLst>
  <p:notesMasterIdLst>
    <p:notesMasterId r:id="rId35"/>
  </p:notesMasterIdLst>
  <p:sldIdLst>
    <p:sldId id="256" r:id="rId2"/>
    <p:sldId id="257" r:id="rId3"/>
    <p:sldId id="260" r:id="rId4"/>
    <p:sldId id="261" r:id="rId5"/>
    <p:sldId id="262" r:id="rId6"/>
    <p:sldId id="263" r:id="rId7"/>
    <p:sldId id="264" r:id="rId8"/>
    <p:sldId id="265" r:id="rId9"/>
    <p:sldId id="266" r:id="rId10"/>
    <p:sldId id="267" r:id="rId11"/>
    <p:sldId id="268" r:id="rId12"/>
    <p:sldId id="269" r:id="rId13"/>
    <p:sldId id="271" r:id="rId14"/>
    <p:sldId id="272" r:id="rId15"/>
    <p:sldId id="273" r:id="rId16"/>
    <p:sldId id="274" r:id="rId17"/>
    <p:sldId id="275" r:id="rId18"/>
    <p:sldId id="276" r:id="rId19"/>
    <p:sldId id="277" r:id="rId20"/>
    <p:sldId id="278" r:id="rId21"/>
    <p:sldId id="279" r:id="rId22"/>
    <p:sldId id="280" r:id="rId23"/>
    <p:sldId id="281" r:id="rId24"/>
    <p:sldId id="282" r:id="rId25"/>
    <p:sldId id="283" r:id="rId26"/>
    <p:sldId id="284" r:id="rId27"/>
    <p:sldId id="285" r:id="rId28"/>
    <p:sldId id="286" r:id="rId29"/>
    <p:sldId id="287" r:id="rId30"/>
    <p:sldId id="288" r:id="rId31"/>
    <p:sldId id="289" r:id="rId32"/>
    <p:sldId id="290" r:id="rId33"/>
    <p:sldId id="259" r:id="rId34"/>
  </p:sldIdLst>
  <p:sldSz cx="12192000" cy="6858000"/>
  <p:notesSz cx="6858000" cy="9144000"/>
  <p:embeddedFontLst>
    <p:embeddedFont>
      <p:font typeface="Libre Baskerville" panose="02000000000000000000" pitchFamily="2" charset="0"/>
      <p:regular r:id="rId36"/>
      <p:bold r:id="rId37"/>
      <p:italic r:id="rId38"/>
      <p:boldItalic r:id="rId39"/>
    </p:embeddedFont>
    <p:embeddedFont>
      <p:font typeface="Trebuchet MS" panose="020B0603020202020204" pitchFamily="34" charset="0"/>
      <p:regular r:id="rId40"/>
      <p:bold r:id="rId41"/>
      <p:italic r:id="rId42"/>
      <p:boldItalic r:id="rId43"/>
    </p:embeddedFont>
    <p:embeddedFont>
      <p:font typeface="Wingdings 3" panose="05040102010807070707" pitchFamily="18" charset="2"/>
      <p:regular r:id="rId44"/>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5" roundtripDataSignature="AMtx7mi4HmEECUlll0m8HTY06QsqsmZGG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73" d="100"/>
          <a:sy n="73" d="100"/>
        </p:scale>
        <p:origin x="322" y="17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4.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7.fntdata"/><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2.fntdata"/><Relationship Id="rId40" Type="http://schemas.openxmlformats.org/officeDocument/2006/relationships/font" Target="fonts/font5.fntdata"/><Relationship Id="rId45" Type="http://customschemas.google.com/relationships/presentationmetadata" Target="meta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1.fntdata"/><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9.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43" Type="http://schemas.openxmlformats.org/officeDocument/2006/relationships/font" Target="fonts/font8.fntdata"/><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3.fntdata"/><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 name="Google Shape;102;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14" name="Google Shape;11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30816925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39360913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5885344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31732201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32235339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19149728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1786690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27115765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
        <p:nvSpPr>
          <p:cNvPr id="5" name="Date Placeholder 4"/>
          <p:cNvSpPr>
            <a:spLocks noGrp="1"/>
          </p:cNvSpPr>
          <p:nvPr>
            <p:ph type="dt" sz="half" idx="10"/>
          </p:nvPr>
        </p:nvSpPr>
        <p:spPr/>
        <p:txBody>
          <a:bodyPr/>
          <a:lstStyle/>
          <a:p>
            <a:endParaRPr lang="en-IN"/>
          </a:p>
        </p:txBody>
      </p:sp>
    </p:spTree>
    <p:extLst>
      <p:ext uri="{BB962C8B-B14F-4D97-AF65-F5344CB8AC3E}">
        <p14:creationId xmlns:p14="http://schemas.microsoft.com/office/powerpoint/2010/main" val="4121916203"/>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1776163007"/>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499071608"/>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333978711"/>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030123205"/>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3612682873"/>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196554325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30669121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924378273"/>
      </p:ext>
    </p:extLst>
  </p:cSld>
  <p:clrMap bg1="lt1" tx1="dk1" bg2="lt2" tx2="dk2" accent1="accent1" accent2="accent2" accent3="accent3" accent4="accent4" accent5="accent5" accent6="accent6" hlink="hlink" folHlink="folHlink"/>
  <p:sldLayoutIdLst>
    <p:sldLayoutId id="2147483900" r:id="rId1"/>
    <p:sldLayoutId id="2147483901" r:id="rId2"/>
    <p:sldLayoutId id="2147483902" r:id="rId3"/>
    <p:sldLayoutId id="2147483903" r:id="rId4"/>
    <p:sldLayoutId id="2147483904" r:id="rId5"/>
    <p:sldLayoutId id="2147483905" r:id="rId6"/>
    <p:sldLayoutId id="2147483906" r:id="rId7"/>
    <p:sldLayoutId id="2147483907" r:id="rId8"/>
    <p:sldLayoutId id="2147483908" r:id="rId9"/>
    <p:sldLayoutId id="2147483909" r:id="rId10"/>
    <p:sldLayoutId id="2147483910" r:id="rId11"/>
    <p:sldLayoutId id="2147483911" r:id="rId12"/>
    <p:sldLayoutId id="2147483912" r:id="rId13"/>
    <p:sldLayoutId id="2147483913" r:id="rId14"/>
    <p:sldLayoutId id="2147483914" r:id="rId15"/>
    <p:sldLayoutId id="2147483915" r:id="rId16"/>
  </p:sldLayoutIdLst>
  <p:hf sldNum="0"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Layout" Target="../slideLayouts/slideLayout7.xml"/><Relationship Id="rId6" Type="http://schemas.openxmlformats.org/officeDocument/2006/relationships/image" Target="../media/image2.png"/><Relationship Id="rId5" Type="http://schemas.openxmlformats.org/officeDocument/2006/relationships/image" Target="../media/image6.jpg"/><Relationship Id="rId4" Type="http://schemas.openxmlformats.org/officeDocument/2006/relationships/image" Target="../media/image5.jp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g"/><Relationship Id="rId1" Type="http://schemas.openxmlformats.org/officeDocument/2006/relationships/slideLayout" Target="../slideLayouts/slideLayout7.xml"/><Relationship Id="rId5" Type="http://schemas.openxmlformats.org/officeDocument/2006/relationships/image" Target="../media/image2.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0.jp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image" Target="../media/image27.pn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4.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5.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6.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7.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8.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9.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jp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30.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31.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3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p1"/>
          <p:cNvPicPr preferRelativeResize="0"/>
          <p:nvPr/>
        </p:nvPicPr>
        <p:blipFill rotWithShape="1">
          <a:blip r:embed="rId3">
            <a:alphaModFix/>
          </a:blip>
          <a:srcRect/>
          <a:stretch/>
        </p:blipFill>
        <p:spPr>
          <a:xfrm>
            <a:off x="1185" y="0"/>
            <a:ext cx="12190815" cy="6694098"/>
          </a:xfrm>
          <a:prstGeom prst="rect">
            <a:avLst/>
          </a:prstGeom>
          <a:noFill/>
          <a:ln>
            <a:noFill/>
          </a:ln>
        </p:spPr>
      </p:pic>
      <p:sp>
        <p:nvSpPr>
          <p:cNvPr id="99" name="Google Shape;99;p1"/>
          <p:cNvSpPr txBox="1"/>
          <p:nvPr/>
        </p:nvSpPr>
        <p:spPr>
          <a:xfrm>
            <a:off x="2888789" y="3140244"/>
            <a:ext cx="6414421" cy="1292621"/>
          </a:xfrm>
          <a:prstGeom prst="rect">
            <a:avLst/>
          </a:prstGeom>
          <a:noFill/>
          <a:ln>
            <a:noFill/>
          </a:ln>
        </p:spPr>
        <p:txBody>
          <a:bodyPr spcFirstLastPara="1" wrap="square" lIns="91425" tIns="45700" rIns="91425" bIns="45700" anchor="t" anchorCtr="0">
            <a:spAutoFit/>
          </a:bodyPr>
          <a:lstStyle/>
          <a:p>
            <a:pPr algn="ctr">
              <a:buSzPts val="1800"/>
            </a:pPr>
            <a:br>
              <a:rPr lang="en-IN" sz="3200" b="0" i="0" u="none" strike="noStrike" cap="none" dirty="0">
                <a:solidFill>
                  <a:schemeClr val="dk1"/>
                </a:solidFill>
                <a:latin typeface="Calibri"/>
                <a:ea typeface="Calibri"/>
                <a:cs typeface="Calibri"/>
                <a:sym typeface="Calibri"/>
              </a:rPr>
            </a:br>
            <a:r>
              <a:rPr lang="en-IN" sz="3200" b="1" spc="-10" dirty="0">
                <a:latin typeface="Times New Roman"/>
                <a:cs typeface="Times New Roman"/>
              </a:rPr>
              <a:t>Grocery </a:t>
            </a:r>
            <a:r>
              <a:rPr lang="en-IN" sz="3200" b="1" dirty="0">
                <a:latin typeface="Times New Roman"/>
                <a:cs typeface="Times New Roman"/>
              </a:rPr>
              <a:t>Store</a:t>
            </a:r>
            <a:r>
              <a:rPr lang="en-IN" sz="3200" b="1" spc="-185" dirty="0">
                <a:latin typeface="Times New Roman"/>
                <a:cs typeface="Times New Roman"/>
              </a:rPr>
              <a:t> </a:t>
            </a:r>
            <a:r>
              <a:rPr lang="en-IN" sz="3200" b="1" spc="-10" dirty="0">
                <a:latin typeface="Times New Roman"/>
                <a:cs typeface="Times New Roman"/>
              </a:rPr>
              <a:t>Management</a:t>
            </a:r>
            <a:endParaRPr lang="en-IN" sz="3200" dirty="0">
              <a:latin typeface="Times New Roman"/>
              <a:cs typeface="Times New Roman"/>
            </a:endParaRPr>
          </a:p>
          <a:p>
            <a:pPr marL="0" marR="0" lvl="0" indent="0" algn="ctr" rtl="0">
              <a:lnSpc>
                <a:spcPct val="100000"/>
              </a:lnSpc>
              <a:spcBef>
                <a:spcPts val="0"/>
              </a:spcBef>
              <a:spcAft>
                <a:spcPts val="0"/>
              </a:spcAft>
              <a:buClr>
                <a:srgbClr val="000000"/>
              </a:buClr>
              <a:buSzPts val="1800"/>
              <a:buFont typeface="Arial"/>
              <a:buNone/>
            </a:pPr>
            <a:endParaRPr sz="1400" b="0" i="0" u="none" strike="noStrike" cap="none" dirty="0">
              <a:solidFill>
                <a:srgbClr val="000000"/>
              </a:solidFill>
              <a:latin typeface="Arial"/>
              <a:ea typeface="Arial"/>
              <a:cs typeface="Arial"/>
              <a:sym typeface="Arial"/>
            </a:endParaRPr>
          </a:p>
        </p:txBody>
      </p:sp>
      <p:sp>
        <p:nvSpPr>
          <p:cNvPr id="3" name="TextBox 2">
            <a:extLst>
              <a:ext uri="{FF2B5EF4-FFF2-40B4-BE49-F238E27FC236}">
                <a16:creationId xmlns:a16="http://schemas.microsoft.com/office/drawing/2014/main" id="{C6CA90BD-EC2F-7BAC-6AE4-A35C105B5A13}"/>
              </a:ext>
            </a:extLst>
          </p:cNvPr>
          <p:cNvSpPr txBox="1"/>
          <p:nvPr/>
        </p:nvSpPr>
        <p:spPr>
          <a:xfrm>
            <a:off x="8132742" y="4300673"/>
            <a:ext cx="5229726" cy="2349361"/>
          </a:xfrm>
          <a:prstGeom prst="rect">
            <a:avLst/>
          </a:prstGeom>
          <a:noFill/>
        </p:spPr>
        <p:txBody>
          <a:bodyPr wrap="square">
            <a:spAutoFit/>
          </a:bodyPr>
          <a:lstStyle/>
          <a:p>
            <a:pPr marL="12700">
              <a:lnSpc>
                <a:spcPct val="100000"/>
              </a:lnSpc>
              <a:spcBef>
                <a:spcPts val="1800"/>
              </a:spcBef>
            </a:pPr>
            <a:r>
              <a:rPr lang="en-US" sz="1800" b="1" spc="-10" dirty="0">
                <a:latin typeface="Times New Roman"/>
                <a:cs typeface="Times New Roman"/>
              </a:rPr>
              <a:t>Presented by:</a:t>
            </a:r>
            <a:endParaRPr lang="en-US" sz="1800" dirty="0">
              <a:latin typeface="Times New Roman"/>
              <a:cs typeface="Times New Roman"/>
            </a:endParaRPr>
          </a:p>
          <a:p>
            <a:pPr marL="749935">
              <a:lnSpc>
                <a:spcPct val="100000"/>
              </a:lnSpc>
              <a:spcBef>
                <a:spcPts val="1705"/>
              </a:spcBef>
            </a:pPr>
            <a:r>
              <a:rPr lang="en-US" sz="1800" b="1" u="sng" dirty="0">
                <a:latin typeface="Times New Roman"/>
                <a:cs typeface="Times New Roman"/>
              </a:rPr>
              <a:t>SATISH TALLURI</a:t>
            </a:r>
          </a:p>
          <a:p>
            <a:pPr marL="749935">
              <a:lnSpc>
                <a:spcPct val="100000"/>
              </a:lnSpc>
              <a:spcBef>
                <a:spcPts val="1705"/>
              </a:spcBef>
            </a:pPr>
            <a:r>
              <a:rPr lang="en-US" sz="1800" b="1" u="sng" dirty="0" err="1">
                <a:latin typeface="Times New Roman"/>
                <a:cs typeface="Times New Roman"/>
              </a:rPr>
              <a:t>Chrishmen</a:t>
            </a:r>
            <a:r>
              <a:rPr lang="en-US" sz="1800" b="1" u="sng" dirty="0">
                <a:latin typeface="Times New Roman"/>
                <a:cs typeface="Times New Roman"/>
              </a:rPr>
              <a:t> .</a:t>
            </a:r>
            <a:r>
              <a:rPr lang="en-US" sz="1800" b="1" u="sng" dirty="0" err="1">
                <a:latin typeface="Times New Roman"/>
                <a:cs typeface="Times New Roman"/>
              </a:rPr>
              <a:t>ys</a:t>
            </a:r>
            <a:endParaRPr lang="en-US" sz="1800" b="1" u="sng" dirty="0">
              <a:latin typeface="Times New Roman"/>
              <a:cs typeface="Times New Roman"/>
            </a:endParaRPr>
          </a:p>
          <a:p>
            <a:pPr marL="749935">
              <a:lnSpc>
                <a:spcPct val="100000"/>
              </a:lnSpc>
              <a:spcBef>
                <a:spcPts val="1705"/>
              </a:spcBef>
            </a:pPr>
            <a:r>
              <a:rPr lang="en-US" sz="1800" b="1" u="sng" dirty="0">
                <a:latin typeface="Times New Roman"/>
                <a:cs typeface="Times New Roman"/>
              </a:rPr>
              <a:t>Vikram</a:t>
            </a:r>
          </a:p>
          <a:p>
            <a:pPr marL="749935">
              <a:lnSpc>
                <a:spcPct val="100000"/>
              </a:lnSpc>
              <a:spcBef>
                <a:spcPts val="1705"/>
              </a:spcBef>
            </a:pPr>
            <a:r>
              <a:rPr lang="en-US" sz="1800" b="1" u="sng" dirty="0" err="1">
                <a:solidFill>
                  <a:schemeClr val="tx1"/>
                </a:solidFill>
                <a:latin typeface="Times New Roman"/>
                <a:cs typeface="Times New Roman"/>
              </a:rPr>
              <a:t>sridhar</a:t>
            </a:r>
            <a:endParaRPr lang="en-US" sz="1800" b="1" u="sng" dirty="0">
              <a:solidFill>
                <a:schemeClr val="tx1"/>
              </a:solidFill>
              <a:latin typeface="Times New Roman"/>
              <a:cs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5" name="Google Shape;105;p3"/>
          <p:cNvSpPr txBox="1"/>
          <p:nvPr/>
        </p:nvSpPr>
        <p:spPr>
          <a:xfrm>
            <a:off x="4304565" y="352387"/>
            <a:ext cx="3582870" cy="633979"/>
          </a:xfrm>
          <a:prstGeom prst="rect">
            <a:avLst/>
          </a:prstGeom>
          <a:noFill/>
          <a:ln>
            <a:noFill/>
          </a:ln>
        </p:spPr>
        <p:txBody>
          <a:bodyPr spcFirstLastPara="1" wrap="square" lIns="91425" tIns="45700" rIns="91425" bIns="45700" anchor="t" anchorCtr="0">
            <a:spAutoFit/>
          </a:bodyPr>
          <a:lstStyle/>
          <a:p>
            <a:pPr lvl="0">
              <a:lnSpc>
                <a:spcPct val="80000"/>
              </a:lnSpc>
              <a:buClr>
                <a:srgbClr val="FF0000"/>
              </a:buClr>
              <a:buSzPts val="3200"/>
            </a:pPr>
            <a:r>
              <a:rPr lang="en-IN" sz="4400" b="1" spc="-10" dirty="0"/>
              <a:t>Introduction</a:t>
            </a:r>
            <a:endParaRPr sz="4400" b="1" i="0" u="none" strike="noStrike" cap="none" dirty="0">
              <a:solidFill>
                <a:srgbClr val="FF0000"/>
              </a:solidFill>
              <a:latin typeface="Calibri"/>
              <a:ea typeface="Calibri"/>
              <a:cs typeface="Calibri"/>
              <a:sym typeface="Calibri"/>
            </a:endParaRPr>
          </a:p>
        </p:txBody>
      </p:sp>
      <p:sp>
        <p:nvSpPr>
          <p:cNvPr id="3" name="TextBox 2">
            <a:extLst>
              <a:ext uri="{FF2B5EF4-FFF2-40B4-BE49-F238E27FC236}">
                <a16:creationId xmlns:a16="http://schemas.microsoft.com/office/drawing/2014/main" id="{462E6213-2A2E-C662-D855-60137EA5A1ED}"/>
              </a:ext>
            </a:extLst>
          </p:cNvPr>
          <p:cNvSpPr txBox="1"/>
          <p:nvPr/>
        </p:nvSpPr>
        <p:spPr>
          <a:xfrm>
            <a:off x="272715" y="1193096"/>
            <a:ext cx="11646569" cy="6448560"/>
          </a:xfrm>
          <a:prstGeom prst="rect">
            <a:avLst/>
          </a:prstGeom>
          <a:noFill/>
        </p:spPr>
        <p:txBody>
          <a:bodyPr wrap="square">
            <a:spAutoFit/>
          </a:bodyPr>
          <a:lstStyle/>
          <a:p>
            <a:pPr marL="379730" marR="11430" indent="-367665">
              <a:lnSpc>
                <a:spcPct val="150000"/>
              </a:lnSpc>
              <a:spcBef>
                <a:spcPts val="100"/>
              </a:spcBef>
              <a:buFont typeface="Arial MT"/>
              <a:buChar char="•"/>
              <a:tabLst>
                <a:tab pos="379730" algn="l"/>
                <a:tab pos="1249680" algn="l"/>
                <a:tab pos="2450465" algn="l"/>
                <a:tab pos="3328670" algn="l"/>
                <a:tab pos="4935220" algn="l"/>
                <a:tab pos="6483350" algn="l"/>
                <a:tab pos="8141970" algn="l"/>
                <a:tab pos="9864090" algn="l"/>
                <a:tab pos="12407900" algn="l"/>
                <a:tab pos="12983845" algn="l"/>
                <a:tab pos="14940915" algn="l"/>
              </a:tabLst>
            </a:pPr>
            <a:r>
              <a:rPr lang="en-US" spc="-25" dirty="0">
                <a:latin typeface="Calibri"/>
                <a:cs typeface="Calibri"/>
              </a:rPr>
              <a:t>The  </a:t>
            </a:r>
            <a:r>
              <a:rPr lang="en-US" spc="-10" dirty="0">
                <a:latin typeface="Calibri"/>
                <a:cs typeface="Calibri"/>
              </a:rPr>
              <a:t>Retail </a:t>
            </a:r>
            <a:r>
              <a:rPr lang="en-US" spc="-25" dirty="0">
                <a:latin typeface="Calibri"/>
                <a:cs typeface="Calibri"/>
              </a:rPr>
              <a:t>and </a:t>
            </a:r>
            <a:r>
              <a:rPr lang="en-US" spc="-10" dirty="0">
                <a:latin typeface="Calibri"/>
                <a:cs typeface="Calibri"/>
              </a:rPr>
              <a:t>Grocery domain</a:t>
            </a:r>
            <a:r>
              <a:rPr lang="en-US" dirty="0">
                <a:latin typeface="Calibri"/>
                <a:cs typeface="Calibri"/>
              </a:rPr>
              <a:t>	</a:t>
            </a:r>
            <a:r>
              <a:rPr lang="en-US" spc="-10" dirty="0">
                <a:latin typeface="Calibri"/>
                <a:cs typeface="Calibri"/>
              </a:rPr>
              <a:t>requires effective</a:t>
            </a:r>
            <a:r>
              <a:rPr lang="en-US" dirty="0">
                <a:latin typeface="Calibri"/>
                <a:cs typeface="Calibri"/>
              </a:rPr>
              <a:t>	 </a:t>
            </a:r>
            <a:r>
              <a:rPr lang="en-US" spc="-10" dirty="0">
                <a:latin typeface="Calibri"/>
                <a:cs typeface="Calibri"/>
              </a:rPr>
              <a:t>management </a:t>
            </a:r>
            <a:r>
              <a:rPr lang="en-US" spc="-25" dirty="0">
                <a:latin typeface="Calibri"/>
                <a:cs typeface="Calibri"/>
              </a:rPr>
              <a:t>of </a:t>
            </a:r>
            <a:r>
              <a:rPr lang="en-US" spc="-10" dirty="0">
                <a:latin typeface="Calibri"/>
                <a:cs typeface="Calibri"/>
              </a:rPr>
              <a:t>inventory, </a:t>
            </a:r>
            <a:r>
              <a:rPr lang="en-US" spc="-20" dirty="0">
                <a:latin typeface="Calibri"/>
                <a:cs typeface="Calibri"/>
              </a:rPr>
              <a:t>suppliers, </a:t>
            </a:r>
            <a:r>
              <a:rPr lang="en-US" dirty="0">
                <a:latin typeface="Calibri"/>
                <a:cs typeface="Calibri"/>
              </a:rPr>
              <a:t>customer</a:t>
            </a:r>
            <a:r>
              <a:rPr lang="en-US" spc="15" dirty="0">
                <a:latin typeface="Calibri"/>
                <a:cs typeface="Calibri"/>
              </a:rPr>
              <a:t> </a:t>
            </a:r>
            <a:r>
              <a:rPr lang="en-US" dirty="0">
                <a:latin typeface="Calibri"/>
                <a:cs typeface="Calibri"/>
              </a:rPr>
              <a:t>orders,</a:t>
            </a:r>
            <a:r>
              <a:rPr lang="en-US" spc="10" dirty="0">
                <a:latin typeface="Calibri"/>
                <a:cs typeface="Calibri"/>
              </a:rPr>
              <a:t> </a:t>
            </a:r>
            <a:r>
              <a:rPr lang="en-US" dirty="0">
                <a:latin typeface="Calibri"/>
                <a:cs typeface="Calibri"/>
              </a:rPr>
              <a:t>employees,</a:t>
            </a:r>
            <a:r>
              <a:rPr lang="en-US" spc="-5" dirty="0">
                <a:latin typeface="Calibri"/>
                <a:cs typeface="Calibri"/>
              </a:rPr>
              <a:t> </a:t>
            </a:r>
            <a:r>
              <a:rPr lang="en-US" dirty="0">
                <a:latin typeface="Calibri"/>
                <a:cs typeface="Calibri"/>
              </a:rPr>
              <a:t>and</a:t>
            </a:r>
            <a:r>
              <a:rPr lang="en-US" spc="-35" dirty="0">
                <a:latin typeface="Calibri"/>
                <a:cs typeface="Calibri"/>
              </a:rPr>
              <a:t> </a:t>
            </a:r>
            <a:r>
              <a:rPr lang="en-US" dirty="0">
                <a:latin typeface="Calibri"/>
                <a:cs typeface="Calibri"/>
              </a:rPr>
              <a:t>product</a:t>
            </a:r>
            <a:r>
              <a:rPr lang="en-US" spc="-15" dirty="0">
                <a:latin typeface="Calibri"/>
                <a:cs typeface="Calibri"/>
              </a:rPr>
              <a:t> </a:t>
            </a:r>
            <a:r>
              <a:rPr lang="en-US" spc="-10" dirty="0">
                <a:latin typeface="Calibri"/>
                <a:cs typeface="Calibri"/>
              </a:rPr>
              <a:t>categories.</a:t>
            </a:r>
          </a:p>
          <a:p>
            <a:pPr marL="12065" marR="11430">
              <a:lnSpc>
                <a:spcPct val="150000"/>
              </a:lnSpc>
              <a:spcBef>
                <a:spcPts val="100"/>
              </a:spcBef>
              <a:tabLst>
                <a:tab pos="379730" algn="l"/>
                <a:tab pos="1249680" algn="l"/>
                <a:tab pos="2450465" algn="l"/>
                <a:tab pos="3328670" algn="l"/>
                <a:tab pos="4935220" algn="l"/>
                <a:tab pos="6483350" algn="l"/>
                <a:tab pos="8141970" algn="l"/>
                <a:tab pos="9864090" algn="l"/>
                <a:tab pos="12407900" algn="l"/>
                <a:tab pos="12983845" algn="l"/>
                <a:tab pos="14940915" algn="l"/>
              </a:tabLst>
            </a:pPr>
            <a:endParaRPr lang="en-US" spc="-10" dirty="0">
              <a:latin typeface="Calibri"/>
              <a:cs typeface="Calibri"/>
            </a:endParaRPr>
          </a:p>
          <a:p>
            <a:pPr marL="379730" marR="11430" indent="-367665">
              <a:lnSpc>
                <a:spcPct val="150000"/>
              </a:lnSpc>
              <a:spcBef>
                <a:spcPts val="100"/>
              </a:spcBef>
              <a:buFont typeface="Arial MT"/>
              <a:buChar char="•"/>
              <a:tabLst>
                <a:tab pos="379730" algn="l"/>
                <a:tab pos="1249680" algn="l"/>
                <a:tab pos="2450465" algn="l"/>
                <a:tab pos="3328670" algn="l"/>
                <a:tab pos="4935220" algn="l"/>
                <a:tab pos="6483350" algn="l"/>
                <a:tab pos="8141970" algn="l"/>
                <a:tab pos="9864090" algn="l"/>
                <a:tab pos="12407900" algn="l"/>
                <a:tab pos="12983845" algn="l"/>
                <a:tab pos="14940915" algn="l"/>
              </a:tabLst>
            </a:pPr>
            <a:r>
              <a:rPr lang="en-US" spc="-10" dirty="0">
                <a:latin typeface="Calibri"/>
                <a:cs typeface="Calibri"/>
              </a:rPr>
              <a:t>Efficient </a:t>
            </a:r>
            <a:r>
              <a:rPr lang="en-US" spc="-20" dirty="0">
                <a:latin typeface="Calibri"/>
                <a:cs typeface="Calibri"/>
              </a:rPr>
              <a:t>data </a:t>
            </a:r>
            <a:r>
              <a:rPr lang="en-US" spc="-10" dirty="0">
                <a:latin typeface="Calibri"/>
                <a:cs typeface="Calibri"/>
              </a:rPr>
              <a:t>handling helps businesses track sales </a:t>
            </a:r>
            <a:r>
              <a:rPr lang="en-US" spc="-25" dirty="0">
                <a:latin typeface="Calibri"/>
                <a:cs typeface="Calibri"/>
              </a:rPr>
              <a:t>and </a:t>
            </a:r>
            <a:r>
              <a:rPr lang="en-US" spc="-10" dirty="0">
                <a:latin typeface="Calibri"/>
                <a:cs typeface="Calibri"/>
              </a:rPr>
              <a:t>revenue, monitor product </a:t>
            </a:r>
            <a:r>
              <a:rPr lang="en-IN" spc="-10" dirty="0">
                <a:latin typeface="Calibri"/>
                <a:cs typeface="Calibri"/>
              </a:rPr>
              <a:t>availability,</a:t>
            </a:r>
            <a:r>
              <a:rPr lang="en-IN" spc="-40" dirty="0">
                <a:latin typeface="Calibri"/>
                <a:cs typeface="Calibri"/>
              </a:rPr>
              <a:t> </a:t>
            </a:r>
            <a:r>
              <a:rPr lang="en-IN" dirty="0">
                <a:latin typeface="Calibri"/>
                <a:cs typeface="Calibri"/>
              </a:rPr>
              <a:t>and</a:t>
            </a:r>
            <a:r>
              <a:rPr lang="en-IN" spc="-80" dirty="0">
                <a:latin typeface="Calibri"/>
                <a:cs typeface="Calibri"/>
              </a:rPr>
              <a:t> </a:t>
            </a:r>
            <a:r>
              <a:rPr lang="en-IN" dirty="0" err="1">
                <a:latin typeface="Calibri"/>
                <a:cs typeface="Calibri"/>
              </a:rPr>
              <a:t>analyze</a:t>
            </a:r>
            <a:r>
              <a:rPr lang="en-IN" spc="-30" dirty="0">
                <a:latin typeface="Calibri"/>
                <a:cs typeface="Calibri"/>
              </a:rPr>
              <a:t> </a:t>
            </a:r>
            <a:r>
              <a:rPr lang="en-IN" spc="-10" dirty="0">
                <a:latin typeface="Calibri"/>
                <a:cs typeface="Calibri"/>
              </a:rPr>
              <a:t>operations.</a:t>
            </a:r>
            <a:endParaRPr lang="en-IN" dirty="0">
              <a:latin typeface="Calibri"/>
              <a:cs typeface="Calibri"/>
            </a:endParaRPr>
          </a:p>
          <a:p>
            <a:pPr marL="379730" marR="11430" indent="-367665">
              <a:lnSpc>
                <a:spcPct val="150000"/>
              </a:lnSpc>
              <a:spcBef>
                <a:spcPts val="100"/>
              </a:spcBef>
              <a:buFont typeface="Arial MT"/>
              <a:buChar char="•"/>
              <a:tabLst>
                <a:tab pos="379730" algn="l"/>
                <a:tab pos="1249680" algn="l"/>
                <a:tab pos="2450465" algn="l"/>
                <a:tab pos="3328670" algn="l"/>
                <a:tab pos="4935220" algn="l"/>
                <a:tab pos="6483350" algn="l"/>
                <a:tab pos="8141970" algn="l"/>
                <a:tab pos="9864090" algn="l"/>
                <a:tab pos="12407900" algn="l"/>
                <a:tab pos="12983845" algn="l"/>
                <a:tab pos="14940915" algn="l"/>
              </a:tabLst>
            </a:pPr>
            <a:endParaRPr lang="en-US" spc="-10" dirty="0">
              <a:latin typeface="Calibri"/>
              <a:cs typeface="Calibri"/>
            </a:endParaRPr>
          </a:p>
          <a:p>
            <a:pPr marL="379730" marR="11430" indent="-367665">
              <a:lnSpc>
                <a:spcPct val="150000"/>
              </a:lnSpc>
              <a:spcBef>
                <a:spcPts val="100"/>
              </a:spcBef>
              <a:buFont typeface="Arial MT"/>
              <a:buChar char="•"/>
              <a:tabLst>
                <a:tab pos="379730" algn="l"/>
                <a:tab pos="1249680" algn="l"/>
                <a:tab pos="2450465" algn="l"/>
                <a:tab pos="3328670" algn="l"/>
                <a:tab pos="4935220" algn="l"/>
                <a:tab pos="6483350" algn="l"/>
                <a:tab pos="8141970" algn="l"/>
                <a:tab pos="9864090" algn="l"/>
                <a:tab pos="12407900" algn="l"/>
                <a:tab pos="12983845" algn="l"/>
                <a:tab pos="14940915" algn="l"/>
              </a:tabLst>
            </a:pPr>
            <a:r>
              <a:rPr lang="en-US" spc="-20" dirty="0">
                <a:latin typeface="Calibri"/>
                <a:cs typeface="Calibri"/>
              </a:rPr>
              <a:t>This </a:t>
            </a:r>
            <a:r>
              <a:rPr lang="en-US" spc="-10" dirty="0">
                <a:latin typeface="Calibri"/>
                <a:cs typeface="Calibri"/>
              </a:rPr>
              <a:t>project simulates</a:t>
            </a:r>
            <a:r>
              <a:rPr lang="en-US" dirty="0">
                <a:latin typeface="Calibri"/>
                <a:cs typeface="Calibri"/>
              </a:rPr>
              <a:t>	</a:t>
            </a:r>
            <a:r>
              <a:rPr lang="en-US" spc="-50" dirty="0">
                <a:latin typeface="Calibri"/>
                <a:cs typeface="Calibri"/>
              </a:rPr>
              <a:t>a </a:t>
            </a:r>
            <a:r>
              <a:rPr lang="en-US" spc="-20" dirty="0">
                <a:latin typeface="Calibri"/>
                <a:cs typeface="Calibri"/>
              </a:rPr>
              <a:t>mini </a:t>
            </a:r>
            <a:r>
              <a:rPr lang="en-US" spc="-10" dirty="0">
                <a:latin typeface="Calibri"/>
                <a:cs typeface="Calibri"/>
              </a:rPr>
              <a:t>grocery store database </a:t>
            </a:r>
            <a:r>
              <a:rPr lang="en-US" spc="-20" dirty="0">
                <a:latin typeface="Calibri"/>
                <a:cs typeface="Calibri"/>
              </a:rPr>
              <a:t>with interconnected </a:t>
            </a:r>
            <a:r>
              <a:rPr lang="en-IN" spc="-10" dirty="0">
                <a:latin typeface="Calibri"/>
                <a:cs typeface="Calibri"/>
              </a:rPr>
              <a:t>entities </a:t>
            </a:r>
            <a:r>
              <a:rPr lang="en-IN" spc="-20" dirty="0">
                <a:latin typeface="Calibri"/>
                <a:cs typeface="Calibri"/>
              </a:rPr>
              <a:t>like</a:t>
            </a:r>
            <a:r>
              <a:rPr lang="en-US" spc="-20" dirty="0">
                <a:latin typeface="Calibri"/>
                <a:cs typeface="Calibri"/>
              </a:rPr>
              <a:t> </a:t>
            </a:r>
            <a:r>
              <a:rPr lang="en-US" dirty="0">
                <a:latin typeface="Calibri"/>
                <a:cs typeface="Calibri"/>
              </a:rPr>
              <a:t>products,</a:t>
            </a:r>
            <a:r>
              <a:rPr lang="en-US" spc="25" dirty="0">
                <a:latin typeface="Calibri"/>
                <a:cs typeface="Calibri"/>
              </a:rPr>
              <a:t> </a:t>
            </a:r>
            <a:r>
              <a:rPr lang="en-US" dirty="0">
                <a:latin typeface="Calibri"/>
                <a:cs typeface="Calibri"/>
              </a:rPr>
              <a:t>orders,</a:t>
            </a:r>
            <a:r>
              <a:rPr lang="en-US" spc="-30" dirty="0">
                <a:latin typeface="Calibri"/>
                <a:cs typeface="Calibri"/>
              </a:rPr>
              <a:t> </a:t>
            </a:r>
            <a:r>
              <a:rPr lang="en-US" dirty="0">
                <a:latin typeface="Calibri"/>
                <a:cs typeface="Calibri"/>
              </a:rPr>
              <a:t>and</a:t>
            </a:r>
            <a:r>
              <a:rPr lang="en-US" spc="-45" dirty="0">
                <a:latin typeface="Calibri"/>
                <a:cs typeface="Calibri"/>
              </a:rPr>
              <a:t> </a:t>
            </a:r>
            <a:r>
              <a:rPr lang="en-US" spc="-10" dirty="0">
                <a:latin typeface="Calibri"/>
                <a:cs typeface="Calibri"/>
              </a:rPr>
              <a:t>suppliers.</a:t>
            </a:r>
          </a:p>
          <a:p>
            <a:pPr marL="12065" marR="11430">
              <a:lnSpc>
                <a:spcPct val="150000"/>
              </a:lnSpc>
              <a:spcBef>
                <a:spcPts val="100"/>
              </a:spcBef>
              <a:tabLst>
                <a:tab pos="379730" algn="l"/>
                <a:tab pos="1249680" algn="l"/>
                <a:tab pos="2450465" algn="l"/>
                <a:tab pos="3328670" algn="l"/>
                <a:tab pos="4935220" algn="l"/>
                <a:tab pos="6483350" algn="l"/>
                <a:tab pos="8141970" algn="l"/>
                <a:tab pos="9864090" algn="l"/>
                <a:tab pos="12407900" algn="l"/>
                <a:tab pos="12983845" algn="l"/>
                <a:tab pos="14940915" algn="l"/>
              </a:tabLst>
            </a:pPr>
            <a:endParaRPr lang="en-US" spc="-10" dirty="0">
              <a:latin typeface="Calibri"/>
              <a:cs typeface="Calibri"/>
            </a:endParaRPr>
          </a:p>
          <a:p>
            <a:pPr marL="379730" marR="11430" indent="-367665">
              <a:lnSpc>
                <a:spcPct val="150000"/>
              </a:lnSpc>
              <a:spcBef>
                <a:spcPts val="100"/>
              </a:spcBef>
              <a:buFont typeface="Arial MT"/>
              <a:buChar char="•"/>
              <a:tabLst>
                <a:tab pos="379730" algn="l"/>
                <a:tab pos="1249680" algn="l"/>
                <a:tab pos="2450465" algn="l"/>
                <a:tab pos="3328670" algn="l"/>
                <a:tab pos="4935220" algn="l"/>
                <a:tab pos="6483350" algn="l"/>
                <a:tab pos="8141970" algn="l"/>
                <a:tab pos="9864090" algn="l"/>
                <a:tab pos="12407900" algn="l"/>
                <a:tab pos="12983845" algn="l"/>
                <a:tab pos="14940915" algn="l"/>
              </a:tabLst>
            </a:pPr>
            <a:r>
              <a:rPr lang="en-US" spc="-25" dirty="0">
                <a:latin typeface="Calibri"/>
                <a:cs typeface="Calibri"/>
              </a:rPr>
              <a:t>It </a:t>
            </a:r>
            <a:r>
              <a:rPr lang="en-US" spc="-10" dirty="0">
                <a:latin typeface="Calibri"/>
                <a:cs typeface="Calibri"/>
              </a:rPr>
              <a:t>offers hands-</a:t>
            </a:r>
            <a:r>
              <a:rPr lang="en-US" spc="-25" dirty="0">
                <a:latin typeface="Calibri"/>
                <a:cs typeface="Calibri"/>
              </a:rPr>
              <a:t>on </a:t>
            </a:r>
            <a:r>
              <a:rPr lang="en-US" spc="-10" dirty="0">
                <a:latin typeface="Calibri"/>
                <a:cs typeface="Calibri"/>
              </a:rPr>
              <a:t>experience </a:t>
            </a:r>
            <a:r>
              <a:rPr lang="en-US" spc="-25" dirty="0">
                <a:latin typeface="Calibri"/>
                <a:cs typeface="Calibri"/>
              </a:rPr>
              <a:t>in</a:t>
            </a:r>
            <a:r>
              <a:rPr lang="en-US" dirty="0">
                <a:latin typeface="Calibri"/>
                <a:cs typeface="Calibri"/>
              </a:rPr>
              <a:t>	</a:t>
            </a:r>
            <a:r>
              <a:rPr lang="en-US" spc="-10" dirty="0">
                <a:latin typeface="Calibri"/>
                <a:cs typeface="Calibri"/>
              </a:rPr>
              <a:t>understanding </a:t>
            </a:r>
            <a:r>
              <a:rPr lang="en-US" spc="-20" dirty="0">
                <a:latin typeface="Calibri"/>
                <a:cs typeface="Calibri"/>
              </a:rPr>
              <a:t>data r</a:t>
            </a:r>
            <a:r>
              <a:rPr lang="en-US" spc="-10" dirty="0">
                <a:latin typeface="Calibri"/>
                <a:cs typeface="Calibri"/>
              </a:rPr>
              <a:t>elationships </a:t>
            </a:r>
            <a:r>
              <a:rPr lang="en-US" spc="-25" dirty="0">
                <a:latin typeface="Calibri"/>
                <a:cs typeface="Calibri"/>
              </a:rPr>
              <a:t>and </a:t>
            </a:r>
            <a:r>
              <a:rPr lang="en-IN" spc="-10" dirty="0">
                <a:latin typeface="Calibri"/>
                <a:cs typeface="Calibri"/>
              </a:rPr>
              <a:t>operational workflows.</a:t>
            </a:r>
          </a:p>
          <a:p>
            <a:pPr marL="12065" marR="11430">
              <a:lnSpc>
                <a:spcPct val="150000"/>
              </a:lnSpc>
              <a:spcBef>
                <a:spcPts val="100"/>
              </a:spcBef>
              <a:tabLst>
                <a:tab pos="379730" algn="l"/>
                <a:tab pos="1249680" algn="l"/>
                <a:tab pos="2450465" algn="l"/>
                <a:tab pos="3328670" algn="l"/>
                <a:tab pos="4935220" algn="l"/>
                <a:tab pos="6483350" algn="l"/>
                <a:tab pos="8141970" algn="l"/>
                <a:tab pos="9864090" algn="l"/>
                <a:tab pos="12407900" algn="l"/>
                <a:tab pos="12983845" algn="l"/>
                <a:tab pos="14940915" algn="l"/>
              </a:tabLst>
            </a:pPr>
            <a:endParaRPr lang="en-IN" spc="-10" dirty="0">
              <a:latin typeface="Calibri"/>
              <a:cs typeface="Calibri"/>
            </a:endParaRPr>
          </a:p>
          <a:p>
            <a:pPr marL="379730" marR="11430" indent="-367665">
              <a:lnSpc>
                <a:spcPct val="150000"/>
              </a:lnSpc>
              <a:spcBef>
                <a:spcPts val="100"/>
              </a:spcBef>
              <a:buFont typeface="Arial MT"/>
              <a:buChar char="•"/>
              <a:tabLst>
                <a:tab pos="379730" algn="l"/>
                <a:tab pos="1249680" algn="l"/>
                <a:tab pos="2450465" algn="l"/>
                <a:tab pos="3328670" algn="l"/>
                <a:tab pos="4935220" algn="l"/>
                <a:tab pos="6483350" algn="l"/>
                <a:tab pos="8141970" algn="l"/>
                <a:tab pos="9864090" algn="l"/>
                <a:tab pos="12407900" algn="l"/>
                <a:tab pos="12983845" algn="l"/>
                <a:tab pos="14940915" algn="l"/>
              </a:tabLst>
            </a:pPr>
            <a:r>
              <a:rPr lang="en-US" dirty="0">
                <a:latin typeface="Calibri"/>
                <a:cs typeface="Calibri"/>
              </a:rPr>
              <a:t>Students</a:t>
            </a:r>
            <a:r>
              <a:rPr lang="en-US" spc="-45" dirty="0">
                <a:latin typeface="Calibri"/>
                <a:cs typeface="Calibri"/>
              </a:rPr>
              <a:t> </a:t>
            </a:r>
            <a:r>
              <a:rPr lang="en-US" dirty="0">
                <a:latin typeface="Calibri"/>
                <a:cs typeface="Calibri"/>
              </a:rPr>
              <a:t>will</a:t>
            </a:r>
            <a:r>
              <a:rPr lang="en-US" spc="-15" dirty="0">
                <a:latin typeface="Calibri"/>
                <a:cs typeface="Calibri"/>
              </a:rPr>
              <a:t> </a:t>
            </a:r>
            <a:r>
              <a:rPr lang="en-US" dirty="0">
                <a:latin typeface="Calibri"/>
                <a:cs typeface="Calibri"/>
              </a:rPr>
              <a:t>use</a:t>
            </a:r>
            <a:r>
              <a:rPr lang="en-US" spc="-75" dirty="0">
                <a:latin typeface="Calibri"/>
                <a:cs typeface="Calibri"/>
              </a:rPr>
              <a:t> </a:t>
            </a:r>
            <a:r>
              <a:rPr lang="en-US" dirty="0">
                <a:latin typeface="Calibri"/>
                <a:cs typeface="Calibri"/>
              </a:rPr>
              <a:t>SQL</a:t>
            </a:r>
            <a:r>
              <a:rPr lang="en-US" spc="-20" dirty="0">
                <a:latin typeface="Calibri"/>
                <a:cs typeface="Calibri"/>
              </a:rPr>
              <a:t> </a:t>
            </a:r>
            <a:r>
              <a:rPr lang="en-US" dirty="0">
                <a:latin typeface="Calibri"/>
                <a:cs typeface="Calibri"/>
              </a:rPr>
              <a:t>to</a:t>
            </a:r>
            <a:r>
              <a:rPr lang="en-US" spc="-50" dirty="0">
                <a:latin typeface="Calibri"/>
                <a:cs typeface="Calibri"/>
              </a:rPr>
              <a:t> </a:t>
            </a:r>
            <a:r>
              <a:rPr lang="en-US" dirty="0">
                <a:latin typeface="Calibri"/>
                <a:cs typeface="Calibri"/>
              </a:rPr>
              <a:t>extract</a:t>
            </a:r>
            <a:r>
              <a:rPr lang="en-US" spc="-65" dirty="0">
                <a:latin typeface="Calibri"/>
                <a:cs typeface="Calibri"/>
              </a:rPr>
              <a:t> </a:t>
            </a:r>
            <a:r>
              <a:rPr lang="en-US" dirty="0">
                <a:latin typeface="Calibri"/>
                <a:cs typeface="Calibri"/>
              </a:rPr>
              <a:t>and</a:t>
            </a:r>
            <a:r>
              <a:rPr lang="en-US" spc="-65" dirty="0">
                <a:latin typeface="Calibri"/>
                <a:cs typeface="Calibri"/>
              </a:rPr>
              <a:t> </a:t>
            </a:r>
            <a:r>
              <a:rPr lang="en-US" dirty="0">
                <a:latin typeface="Calibri"/>
                <a:cs typeface="Calibri"/>
              </a:rPr>
              <a:t>transform</a:t>
            </a:r>
            <a:r>
              <a:rPr lang="en-US" spc="5" dirty="0">
                <a:latin typeface="Calibri"/>
                <a:cs typeface="Calibri"/>
              </a:rPr>
              <a:t> </a:t>
            </a:r>
            <a:r>
              <a:rPr lang="en-US" dirty="0">
                <a:latin typeface="Calibri"/>
                <a:cs typeface="Calibri"/>
              </a:rPr>
              <a:t>data,</a:t>
            </a:r>
            <a:r>
              <a:rPr lang="en-US" spc="-20" dirty="0">
                <a:latin typeface="Calibri"/>
                <a:cs typeface="Calibri"/>
              </a:rPr>
              <a:t> </a:t>
            </a:r>
            <a:r>
              <a:rPr lang="en-US" dirty="0">
                <a:latin typeface="Calibri"/>
                <a:cs typeface="Calibri"/>
              </a:rPr>
              <a:t>gaining</a:t>
            </a:r>
            <a:r>
              <a:rPr lang="en-US" spc="25" dirty="0">
                <a:latin typeface="Calibri"/>
                <a:cs typeface="Calibri"/>
              </a:rPr>
              <a:t> </a:t>
            </a:r>
            <a:r>
              <a:rPr lang="en-US" dirty="0">
                <a:latin typeface="Calibri"/>
                <a:cs typeface="Calibri"/>
              </a:rPr>
              <a:t>valuable</a:t>
            </a:r>
            <a:r>
              <a:rPr lang="en-US" spc="-70" dirty="0">
                <a:latin typeface="Calibri"/>
                <a:cs typeface="Calibri"/>
              </a:rPr>
              <a:t> </a:t>
            </a:r>
            <a:r>
              <a:rPr lang="en-US" dirty="0">
                <a:latin typeface="Calibri"/>
                <a:cs typeface="Calibri"/>
              </a:rPr>
              <a:t>business</a:t>
            </a:r>
            <a:r>
              <a:rPr lang="en-US" spc="-20" dirty="0">
                <a:latin typeface="Calibri"/>
                <a:cs typeface="Calibri"/>
              </a:rPr>
              <a:t> </a:t>
            </a:r>
            <a:r>
              <a:rPr lang="en-US" spc="-10" dirty="0">
                <a:latin typeface="Calibri"/>
                <a:cs typeface="Calibri"/>
              </a:rPr>
              <a:t>insights.</a:t>
            </a:r>
          </a:p>
          <a:p>
            <a:pPr marL="12065" marR="11430">
              <a:lnSpc>
                <a:spcPct val="150000"/>
              </a:lnSpc>
              <a:spcBef>
                <a:spcPts val="100"/>
              </a:spcBef>
              <a:tabLst>
                <a:tab pos="379730" algn="l"/>
                <a:tab pos="1249680" algn="l"/>
                <a:tab pos="2450465" algn="l"/>
                <a:tab pos="3328670" algn="l"/>
                <a:tab pos="4935220" algn="l"/>
                <a:tab pos="6483350" algn="l"/>
                <a:tab pos="8141970" algn="l"/>
                <a:tab pos="9864090" algn="l"/>
                <a:tab pos="12407900" algn="l"/>
                <a:tab pos="12983845" algn="l"/>
                <a:tab pos="14940915" algn="l"/>
              </a:tabLst>
            </a:pPr>
            <a:endParaRPr lang="en-US" dirty="0">
              <a:latin typeface="Calibri"/>
              <a:cs typeface="Calibri"/>
            </a:endParaRPr>
          </a:p>
          <a:p>
            <a:pPr marL="379730" marR="11430" indent="-367665">
              <a:lnSpc>
                <a:spcPct val="150000"/>
              </a:lnSpc>
              <a:spcBef>
                <a:spcPts val="100"/>
              </a:spcBef>
              <a:buFont typeface="Arial MT"/>
              <a:buChar char="•"/>
              <a:tabLst>
                <a:tab pos="379730" algn="l"/>
                <a:tab pos="1249680" algn="l"/>
                <a:tab pos="2450465" algn="l"/>
                <a:tab pos="3328670" algn="l"/>
                <a:tab pos="4935220" algn="l"/>
                <a:tab pos="6483350" algn="l"/>
                <a:tab pos="8141970" algn="l"/>
                <a:tab pos="9864090" algn="l"/>
                <a:tab pos="12407900" algn="l"/>
                <a:tab pos="12983845" algn="l"/>
                <a:tab pos="14940915" algn="l"/>
              </a:tabLst>
            </a:pPr>
            <a:r>
              <a:rPr lang="en-US" dirty="0">
                <a:latin typeface="Calibri"/>
                <a:cs typeface="Calibri"/>
              </a:rPr>
              <a:t>The</a:t>
            </a:r>
            <a:r>
              <a:rPr lang="en-US" spc="15" dirty="0">
                <a:latin typeface="Calibri"/>
                <a:cs typeface="Calibri"/>
              </a:rPr>
              <a:t> </a:t>
            </a:r>
            <a:r>
              <a:rPr lang="en-US" dirty="0">
                <a:latin typeface="Calibri"/>
                <a:cs typeface="Calibri"/>
              </a:rPr>
              <a:t>goal</a:t>
            </a:r>
            <a:r>
              <a:rPr lang="en-US" spc="-25" dirty="0">
                <a:latin typeface="Calibri"/>
                <a:cs typeface="Calibri"/>
              </a:rPr>
              <a:t> </a:t>
            </a:r>
            <a:r>
              <a:rPr lang="en-US" dirty="0">
                <a:latin typeface="Calibri"/>
                <a:cs typeface="Calibri"/>
              </a:rPr>
              <a:t>is</a:t>
            </a:r>
            <a:r>
              <a:rPr lang="en-US" spc="60" dirty="0">
                <a:latin typeface="Calibri"/>
                <a:cs typeface="Calibri"/>
              </a:rPr>
              <a:t> </a:t>
            </a:r>
            <a:r>
              <a:rPr lang="en-US" dirty="0">
                <a:latin typeface="Calibri"/>
                <a:cs typeface="Calibri"/>
              </a:rPr>
              <a:t>to</a:t>
            </a:r>
            <a:r>
              <a:rPr lang="en-US" spc="10" dirty="0">
                <a:latin typeface="Calibri"/>
                <a:cs typeface="Calibri"/>
              </a:rPr>
              <a:t> </a:t>
            </a:r>
            <a:r>
              <a:rPr lang="en-US" dirty="0">
                <a:latin typeface="Calibri"/>
                <a:cs typeface="Calibri"/>
              </a:rPr>
              <a:t>improve</a:t>
            </a:r>
            <a:r>
              <a:rPr lang="en-US" spc="25" dirty="0">
                <a:latin typeface="Calibri"/>
                <a:cs typeface="Calibri"/>
              </a:rPr>
              <a:t> </a:t>
            </a:r>
            <a:r>
              <a:rPr lang="en-US" spc="-25" dirty="0">
                <a:latin typeface="Calibri"/>
                <a:cs typeface="Calibri"/>
              </a:rPr>
              <a:t>decision-</a:t>
            </a:r>
            <a:r>
              <a:rPr lang="en-US" dirty="0">
                <a:latin typeface="Calibri"/>
                <a:cs typeface="Calibri"/>
              </a:rPr>
              <a:t>making</a:t>
            </a:r>
            <a:r>
              <a:rPr lang="en-US" spc="10" dirty="0">
                <a:latin typeface="Calibri"/>
                <a:cs typeface="Calibri"/>
              </a:rPr>
              <a:t> </a:t>
            </a:r>
            <a:r>
              <a:rPr lang="en-US" dirty="0">
                <a:latin typeface="Calibri"/>
                <a:cs typeface="Calibri"/>
              </a:rPr>
              <a:t>and</a:t>
            </a:r>
            <a:r>
              <a:rPr lang="en-US" spc="-15" dirty="0">
                <a:latin typeface="Calibri"/>
                <a:cs typeface="Calibri"/>
              </a:rPr>
              <a:t> </a:t>
            </a:r>
            <a:r>
              <a:rPr lang="en-US" dirty="0">
                <a:latin typeface="Calibri"/>
                <a:cs typeface="Calibri"/>
              </a:rPr>
              <a:t>operational</a:t>
            </a:r>
            <a:r>
              <a:rPr lang="en-US" spc="35" dirty="0">
                <a:latin typeface="Calibri"/>
                <a:cs typeface="Calibri"/>
              </a:rPr>
              <a:t> </a:t>
            </a:r>
            <a:r>
              <a:rPr lang="en-US" dirty="0">
                <a:latin typeface="Calibri"/>
                <a:cs typeface="Calibri"/>
              </a:rPr>
              <a:t>efficiency</a:t>
            </a:r>
            <a:r>
              <a:rPr lang="en-US" spc="5" dirty="0">
                <a:latin typeface="Calibri"/>
                <a:cs typeface="Calibri"/>
              </a:rPr>
              <a:t> </a:t>
            </a:r>
            <a:r>
              <a:rPr lang="en-US" dirty="0">
                <a:latin typeface="Calibri"/>
                <a:cs typeface="Calibri"/>
              </a:rPr>
              <a:t>through</a:t>
            </a:r>
            <a:r>
              <a:rPr lang="en-US" spc="70" dirty="0">
                <a:latin typeface="Calibri"/>
                <a:cs typeface="Calibri"/>
              </a:rPr>
              <a:t> </a:t>
            </a:r>
            <a:r>
              <a:rPr lang="en-US" dirty="0">
                <a:latin typeface="Calibri"/>
                <a:cs typeface="Calibri"/>
              </a:rPr>
              <a:t>data</a:t>
            </a:r>
            <a:r>
              <a:rPr lang="en-US" spc="-10" dirty="0">
                <a:latin typeface="Calibri"/>
                <a:cs typeface="Calibri"/>
              </a:rPr>
              <a:t> analysis.</a:t>
            </a:r>
            <a:endParaRPr lang="en-US" dirty="0">
              <a:latin typeface="Calibri"/>
              <a:cs typeface="Calibri"/>
            </a:endParaRPr>
          </a:p>
          <a:p>
            <a:pPr marL="12065" marR="11430">
              <a:lnSpc>
                <a:spcPct val="150000"/>
              </a:lnSpc>
              <a:spcBef>
                <a:spcPts val="100"/>
              </a:spcBef>
              <a:tabLst>
                <a:tab pos="379730" algn="l"/>
                <a:tab pos="1249680" algn="l"/>
                <a:tab pos="2450465" algn="l"/>
                <a:tab pos="3328670" algn="l"/>
                <a:tab pos="4935220" algn="l"/>
                <a:tab pos="6483350" algn="l"/>
                <a:tab pos="8141970" algn="l"/>
                <a:tab pos="9864090" algn="l"/>
                <a:tab pos="12407900" algn="l"/>
                <a:tab pos="12983845" algn="l"/>
                <a:tab pos="14940915" algn="l"/>
              </a:tabLst>
            </a:pPr>
            <a:endParaRPr lang="en-IN" spc="-10" dirty="0">
              <a:latin typeface="Calibri"/>
              <a:cs typeface="Calibri"/>
            </a:endParaRPr>
          </a:p>
          <a:p>
            <a:pPr marL="379730" marR="11430" indent="-367665">
              <a:lnSpc>
                <a:spcPct val="150000"/>
              </a:lnSpc>
              <a:spcBef>
                <a:spcPts val="100"/>
              </a:spcBef>
              <a:buFont typeface="Arial MT"/>
              <a:buChar char="•"/>
              <a:tabLst>
                <a:tab pos="379730" algn="l"/>
                <a:tab pos="1249680" algn="l"/>
                <a:tab pos="2450465" algn="l"/>
                <a:tab pos="3328670" algn="l"/>
                <a:tab pos="4935220" algn="l"/>
                <a:tab pos="6483350" algn="l"/>
                <a:tab pos="8141970" algn="l"/>
                <a:tab pos="9864090" algn="l"/>
                <a:tab pos="12407900" algn="l"/>
                <a:tab pos="12983845" algn="l"/>
                <a:tab pos="14940915" algn="l"/>
              </a:tabLst>
            </a:pPr>
            <a:endParaRPr lang="en-US" dirty="0">
              <a:latin typeface="Calibri"/>
              <a:cs typeface="Calibri"/>
            </a:endParaRPr>
          </a:p>
          <a:p>
            <a:pPr marL="379730" marR="11430" indent="-367665">
              <a:lnSpc>
                <a:spcPct val="150000"/>
              </a:lnSpc>
              <a:spcBef>
                <a:spcPts val="100"/>
              </a:spcBef>
              <a:buFont typeface="Arial MT"/>
              <a:buChar char="•"/>
              <a:tabLst>
                <a:tab pos="379730" algn="l"/>
                <a:tab pos="1249680" algn="l"/>
                <a:tab pos="2450465" algn="l"/>
                <a:tab pos="3328670" algn="l"/>
                <a:tab pos="4935220" algn="l"/>
                <a:tab pos="6483350" algn="l"/>
                <a:tab pos="8141970" algn="l"/>
                <a:tab pos="9864090" algn="l"/>
                <a:tab pos="12407900" algn="l"/>
                <a:tab pos="12983845" algn="l"/>
                <a:tab pos="14940915" algn="l"/>
              </a:tabLst>
            </a:pPr>
            <a:endParaRPr lang="en-US" spc="-10" dirty="0">
              <a:latin typeface="Calibri"/>
              <a:cs typeface="Calibri"/>
            </a:endParaRPr>
          </a:p>
        </p:txBody>
      </p:sp>
      <p:pic>
        <p:nvPicPr>
          <p:cNvPr id="7" name="Picture 6">
            <a:extLst>
              <a:ext uri="{FF2B5EF4-FFF2-40B4-BE49-F238E27FC236}">
                <a16:creationId xmlns:a16="http://schemas.microsoft.com/office/drawing/2014/main" id="{C760D886-A81F-8E61-2765-FF5152FAEAEA}"/>
              </a:ext>
            </a:extLst>
          </p:cNvPr>
          <p:cNvPicPr>
            <a:picLocks noChangeAspect="1"/>
          </p:cNvPicPr>
          <p:nvPr/>
        </p:nvPicPr>
        <p:blipFill>
          <a:blip r:embed="rId3"/>
          <a:stretch>
            <a:fillRect/>
          </a:stretch>
        </p:blipFill>
        <p:spPr>
          <a:xfrm>
            <a:off x="87105" y="68826"/>
            <a:ext cx="3767140" cy="847337"/>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5"/>
                                        </p:tgtEl>
                                        <p:attrNameLst>
                                          <p:attrName>style.visibility</p:attrName>
                                        </p:attrNameLst>
                                      </p:cBhvr>
                                      <p:to>
                                        <p:strVal val="visible"/>
                                      </p:to>
                                    </p:set>
                                    <p:animEffect transition="in" filter="fade">
                                      <p:cBhvr>
                                        <p:cTn id="7" dur="500"/>
                                        <p:tgtEl>
                                          <p:spTgt spid="1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745580D-B0B5-F78B-4E4B-1ED0325EAE65}"/>
              </a:ext>
            </a:extLst>
          </p:cNvPr>
          <p:cNvSpPr txBox="1"/>
          <p:nvPr/>
        </p:nvSpPr>
        <p:spPr>
          <a:xfrm>
            <a:off x="4989094" y="360764"/>
            <a:ext cx="2213811" cy="830997"/>
          </a:xfrm>
          <a:prstGeom prst="rect">
            <a:avLst/>
          </a:prstGeom>
          <a:noFill/>
        </p:spPr>
        <p:txBody>
          <a:bodyPr wrap="square">
            <a:spAutoFit/>
          </a:bodyPr>
          <a:lstStyle/>
          <a:p>
            <a:pPr algn="ctr"/>
            <a:r>
              <a:rPr lang="en-IN" sz="4800" b="1" dirty="0"/>
              <a:t>Tables</a:t>
            </a:r>
          </a:p>
        </p:txBody>
      </p:sp>
      <p:sp>
        <p:nvSpPr>
          <p:cNvPr id="5" name="TextBox 4">
            <a:extLst>
              <a:ext uri="{FF2B5EF4-FFF2-40B4-BE49-F238E27FC236}">
                <a16:creationId xmlns:a16="http://schemas.microsoft.com/office/drawing/2014/main" id="{C675AFA9-1D20-2C24-0C00-078DD06D8D5B}"/>
              </a:ext>
            </a:extLst>
          </p:cNvPr>
          <p:cNvSpPr txBox="1"/>
          <p:nvPr/>
        </p:nvSpPr>
        <p:spPr>
          <a:xfrm>
            <a:off x="882316" y="1451629"/>
            <a:ext cx="2213811" cy="457382"/>
          </a:xfrm>
          <a:prstGeom prst="rect">
            <a:avLst/>
          </a:prstGeom>
          <a:noFill/>
        </p:spPr>
        <p:txBody>
          <a:bodyPr wrap="square">
            <a:spAutoFit/>
          </a:bodyPr>
          <a:lstStyle/>
          <a:p>
            <a:pPr marL="12700">
              <a:lnSpc>
                <a:spcPct val="100000"/>
              </a:lnSpc>
              <a:spcBef>
                <a:spcPts val="100"/>
              </a:spcBef>
            </a:pPr>
            <a:r>
              <a:rPr lang="en-IN" sz="2400" b="1" dirty="0">
                <a:latin typeface="Times New Roman"/>
                <a:cs typeface="Times New Roman"/>
              </a:rPr>
              <a:t>Suppliers</a:t>
            </a:r>
            <a:r>
              <a:rPr lang="en-IN" sz="2400" b="1" spc="-229" dirty="0">
                <a:latin typeface="Times New Roman"/>
                <a:cs typeface="Times New Roman"/>
              </a:rPr>
              <a:t> </a:t>
            </a:r>
            <a:r>
              <a:rPr lang="en-IN" sz="2400" b="1" spc="-30" dirty="0">
                <a:latin typeface="Times New Roman"/>
                <a:cs typeface="Times New Roman"/>
              </a:rPr>
              <a:t>Table</a:t>
            </a:r>
            <a:endParaRPr lang="en-IN" sz="2400" dirty="0">
              <a:latin typeface="Times New Roman"/>
              <a:cs typeface="Times New Roman"/>
            </a:endParaRPr>
          </a:p>
        </p:txBody>
      </p:sp>
      <p:pic>
        <p:nvPicPr>
          <p:cNvPr id="6" name="object 15">
            <a:extLst>
              <a:ext uri="{FF2B5EF4-FFF2-40B4-BE49-F238E27FC236}">
                <a16:creationId xmlns:a16="http://schemas.microsoft.com/office/drawing/2014/main" id="{8483AD55-9DE9-14C2-C25B-7BD1C6E519B1}"/>
              </a:ext>
            </a:extLst>
          </p:cNvPr>
          <p:cNvPicPr/>
          <p:nvPr/>
        </p:nvPicPr>
        <p:blipFill>
          <a:blip r:embed="rId2" cstate="print"/>
          <a:stretch>
            <a:fillRect/>
          </a:stretch>
        </p:blipFill>
        <p:spPr>
          <a:xfrm>
            <a:off x="344905" y="1976419"/>
            <a:ext cx="4957011" cy="1376405"/>
          </a:xfrm>
          <a:prstGeom prst="rect">
            <a:avLst/>
          </a:prstGeom>
        </p:spPr>
      </p:pic>
      <p:sp>
        <p:nvSpPr>
          <p:cNvPr id="8" name="TextBox 7">
            <a:extLst>
              <a:ext uri="{FF2B5EF4-FFF2-40B4-BE49-F238E27FC236}">
                <a16:creationId xmlns:a16="http://schemas.microsoft.com/office/drawing/2014/main" id="{E26C6194-E2C0-BF26-93C3-43FFC0CBB7EF}"/>
              </a:ext>
            </a:extLst>
          </p:cNvPr>
          <p:cNvSpPr txBox="1"/>
          <p:nvPr/>
        </p:nvSpPr>
        <p:spPr>
          <a:xfrm>
            <a:off x="8309811" y="1399492"/>
            <a:ext cx="2630905" cy="461665"/>
          </a:xfrm>
          <a:prstGeom prst="rect">
            <a:avLst/>
          </a:prstGeom>
          <a:noFill/>
        </p:spPr>
        <p:txBody>
          <a:bodyPr wrap="square">
            <a:spAutoFit/>
          </a:bodyPr>
          <a:lstStyle/>
          <a:p>
            <a:pPr marL="12700">
              <a:lnSpc>
                <a:spcPct val="100000"/>
              </a:lnSpc>
              <a:spcBef>
                <a:spcPts val="100"/>
              </a:spcBef>
            </a:pPr>
            <a:r>
              <a:rPr lang="en-US" sz="2400" b="1" spc="-20" dirty="0">
                <a:latin typeface="Times New Roman"/>
                <a:cs typeface="Times New Roman"/>
              </a:rPr>
              <a:t>Employees</a:t>
            </a:r>
            <a:r>
              <a:rPr lang="en-US" sz="2400" b="1" spc="-204" dirty="0">
                <a:latin typeface="Times New Roman"/>
                <a:cs typeface="Times New Roman"/>
              </a:rPr>
              <a:t> </a:t>
            </a:r>
            <a:r>
              <a:rPr lang="en-US" sz="2400" b="1" spc="-10" dirty="0">
                <a:latin typeface="Times New Roman"/>
                <a:cs typeface="Times New Roman"/>
              </a:rPr>
              <a:t>Table</a:t>
            </a:r>
            <a:endParaRPr lang="en-US" sz="2400" dirty="0">
              <a:latin typeface="Times New Roman"/>
              <a:cs typeface="Times New Roman"/>
            </a:endParaRPr>
          </a:p>
        </p:txBody>
      </p:sp>
      <p:pic>
        <p:nvPicPr>
          <p:cNvPr id="10" name="object 4">
            <a:extLst>
              <a:ext uri="{FF2B5EF4-FFF2-40B4-BE49-F238E27FC236}">
                <a16:creationId xmlns:a16="http://schemas.microsoft.com/office/drawing/2014/main" id="{C6BD89FA-B9A2-E8CF-7BB2-31B26458320B}"/>
              </a:ext>
            </a:extLst>
          </p:cNvPr>
          <p:cNvPicPr/>
          <p:nvPr/>
        </p:nvPicPr>
        <p:blipFill>
          <a:blip r:embed="rId3" cstate="print"/>
          <a:stretch>
            <a:fillRect/>
          </a:stretch>
        </p:blipFill>
        <p:spPr>
          <a:xfrm>
            <a:off x="6874044" y="1976419"/>
            <a:ext cx="4957011" cy="1376405"/>
          </a:xfrm>
          <a:prstGeom prst="rect">
            <a:avLst/>
          </a:prstGeom>
        </p:spPr>
      </p:pic>
      <p:sp>
        <p:nvSpPr>
          <p:cNvPr id="12" name="TextBox 11">
            <a:extLst>
              <a:ext uri="{FF2B5EF4-FFF2-40B4-BE49-F238E27FC236}">
                <a16:creationId xmlns:a16="http://schemas.microsoft.com/office/drawing/2014/main" id="{8D54F6C7-DC7F-78AF-CE17-F3E9E913BE94}"/>
              </a:ext>
            </a:extLst>
          </p:cNvPr>
          <p:cNvSpPr txBox="1"/>
          <p:nvPr/>
        </p:nvSpPr>
        <p:spPr>
          <a:xfrm>
            <a:off x="882316" y="3664058"/>
            <a:ext cx="2855495" cy="473424"/>
          </a:xfrm>
          <a:prstGeom prst="rect">
            <a:avLst/>
          </a:prstGeom>
          <a:noFill/>
        </p:spPr>
        <p:txBody>
          <a:bodyPr wrap="square">
            <a:spAutoFit/>
          </a:bodyPr>
          <a:lstStyle/>
          <a:p>
            <a:pPr marL="12700">
              <a:lnSpc>
                <a:spcPct val="100000"/>
              </a:lnSpc>
              <a:spcBef>
                <a:spcPts val="100"/>
              </a:spcBef>
            </a:pPr>
            <a:r>
              <a:rPr lang="en-IN" sz="2400" b="1" spc="-20" dirty="0">
                <a:latin typeface="Times New Roman"/>
                <a:cs typeface="Times New Roman"/>
              </a:rPr>
              <a:t>Customers</a:t>
            </a:r>
            <a:r>
              <a:rPr lang="en-IN" sz="2400" b="1" spc="-190" dirty="0">
                <a:latin typeface="Times New Roman"/>
                <a:cs typeface="Times New Roman"/>
              </a:rPr>
              <a:t> </a:t>
            </a:r>
            <a:r>
              <a:rPr lang="en-IN" sz="2400" b="1" spc="-10" dirty="0">
                <a:latin typeface="Times New Roman"/>
                <a:cs typeface="Times New Roman"/>
              </a:rPr>
              <a:t>Table</a:t>
            </a:r>
            <a:endParaRPr lang="en-IN" sz="2400" dirty="0">
              <a:latin typeface="Times New Roman"/>
              <a:cs typeface="Times New Roman"/>
            </a:endParaRPr>
          </a:p>
        </p:txBody>
      </p:sp>
      <p:pic>
        <p:nvPicPr>
          <p:cNvPr id="13" name="object 17">
            <a:extLst>
              <a:ext uri="{FF2B5EF4-FFF2-40B4-BE49-F238E27FC236}">
                <a16:creationId xmlns:a16="http://schemas.microsoft.com/office/drawing/2014/main" id="{41585DCE-2D08-28D9-BEA9-B0C60463419C}"/>
              </a:ext>
            </a:extLst>
          </p:cNvPr>
          <p:cNvPicPr/>
          <p:nvPr/>
        </p:nvPicPr>
        <p:blipFill>
          <a:blip r:embed="rId4" cstate="print"/>
          <a:stretch>
            <a:fillRect/>
          </a:stretch>
        </p:blipFill>
        <p:spPr>
          <a:xfrm>
            <a:off x="344905" y="4448716"/>
            <a:ext cx="4957011" cy="1376405"/>
          </a:xfrm>
          <a:prstGeom prst="rect">
            <a:avLst/>
          </a:prstGeom>
        </p:spPr>
      </p:pic>
      <p:sp>
        <p:nvSpPr>
          <p:cNvPr id="15" name="TextBox 14">
            <a:extLst>
              <a:ext uri="{FF2B5EF4-FFF2-40B4-BE49-F238E27FC236}">
                <a16:creationId xmlns:a16="http://schemas.microsoft.com/office/drawing/2014/main" id="{CD00E2AD-81F3-DA12-E8A8-6ECA1FA953EE}"/>
              </a:ext>
            </a:extLst>
          </p:cNvPr>
          <p:cNvSpPr txBox="1"/>
          <p:nvPr/>
        </p:nvSpPr>
        <p:spPr>
          <a:xfrm>
            <a:off x="8454191" y="3664058"/>
            <a:ext cx="2630905" cy="473425"/>
          </a:xfrm>
          <a:prstGeom prst="rect">
            <a:avLst/>
          </a:prstGeom>
          <a:noFill/>
        </p:spPr>
        <p:txBody>
          <a:bodyPr wrap="square">
            <a:spAutoFit/>
          </a:bodyPr>
          <a:lstStyle/>
          <a:p>
            <a:pPr marL="12700">
              <a:lnSpc>
                <a:spcPct val="100000"/>
              </a:lnSpc>
              <a:spcBef>
                <a:spcPts val="100"/>
              </a:spcBef>
            </a:pPr>
            <a:r>
              <a:rPr lang="en-IN" sz="2400" b="1" dirty="0">
                <a:latin typeface="Times New Roman"/>
                <a:cs typeface="Times New Roman"/>
              </a:rPr>
              <a:t>Categories</a:t>
            </a:r>
            <a:r>
              <a:rPr lang="en-IN" sz="2400" b="1" spc="-135" dirty="0">
                <a:latin typeface="Times New Roman"/>
                <a:cs typeface="Times New Roman"/>
              </a:rPr>
              <a:t> </a:t>
            </a:r>
            <a:r>
              <a:rPr lang="en-IN" sz="2400" b="1" spc="-45" dirty="0">
                <a:latin typeface="Times New Roman"/>
                <a:cs typeface="Times New Roman"/>
              </a:rPr>
              <a:t>Table</a:t>
            </a:r>
            <a:endParaRPr lang="en-IN" sz="2400" dirty="0">
              <a:latin typeface="Times New Roman"/>
              <a:cs typeface="Times New Roman"/>
            </a:endParaRPr>
          </a:p>
        </p:txBody>
      </p:sp>
      <p:pic>
        <p:nvPicPr>
          <p:cNvPr id="16" name="object 16">
            <a:extLst>
              <a:ext uri="{FF2B5EF4-FFF2-40B4-BE49-F238E27FC236}">
                <a16:creationId xmlns:a16="http://schemas.microsoft.com/office/drawing/2014/main" id="{D704B575-C36A-A549-72CA-343425D215AE}"/>
              </a:ext>
            </a:extLst>
          </p:cNvPr>
          <p:cNvPicPr/>
          <p:nvPr/>
        </p:nvPicPr>
        <p:blipFill>
          <a:blip r:embed="rId5" cstate="print"/>
          <a:stretch>
            <a:fillRect/>
          </a:stretch>
        </p:blipFill>
        <p:spPr>
          <a:xfrm>
            <a:off x="6890084" y="4448716"/>
            <a:ext cx="4957011" cy="1376405"/>
          </a:xfrm>
          <a:prstGeom prst="rect">
            <a:avLst/>
          </a:prstGeom>
        </p:spPr>
      </p:pic>
      <p:pic>
        <p:nvPicPr>
          <p:cNvPr id="17" name="Picture 16">
            <a:extLst>
              <a:ext uri="{FF2B5EF4-FFF2-40B4-BE49-F238E27FC236}">
                <a16:creationId xmlns:a16="http://schemas.microsoft.com/office/drawing/2014/main" id="{40404C24-9658-BBE9-938F-8AC7B93E15D5}"/>
              </a:ext>
            </a:extLst>
          </p:cNvPr>
          <p:cNvPicPr>
            <a:picLocks noChangeAspect="1"/>
          </p:cNvPicPr>
          <p:nvPr/>
        </p:nvPicPr>
        <p:blipFill>
          <a:blip r:embed="rId6"/>
          <a:stretch>
            <a:fillRect/>
          </a:stretch>
        </p:blipFill>
        <p:spPr>
          <a:xfrm>
            <a:off x="87105" y="68826"/>
            <a:ext cx="3767140" cy="847337"/>
          </a:xfrm>
          <a:prstGeom prst="rect">
            <a:avLst/>
          </a:prstGeom>
        </p:spPr>
      </p:pic>
    </p:spTree>
    <p:extLst>
      <p:ext uri="{BB962C8B-B14F-4D97-AF65-F5344CB8AC3E}">
        <p14:creationId xmlns:p14="http://schemas.microsoft.com/office/powerpoint/2010/main" val="7292183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90EF938-37B3-7818-EB92-1E3A78CBB2B2}"/>
              </a:ext>
            </a:extLst>
          </p:cNvPr>
          <p:cNvSpPr txBox="1"/>
          <p:nvPr/>
        </p:nvSpPr>
        <p:spPr>
          <a:xfrm>
            <a:off x="5253789" y="328681"/>
            <a:ext cx="2173706" cy="830997"/>
          </a:xfrm>
          <a:prstGeom prst="rect">
            <a:avLst/>
          </a:prstGeom>
          <a:noFill/>
        </p:spPr>
        <p:txBody>
          <a:bodyPr wrap="square">
            <a:spAutoFit/>
          </a:bodyPr>
          <a:lstStyle/>
          <a:p>
            <a:r>
              <a:rPr lang="en-IN" sz="4800" b="1" dirty="0"/>
              <a:t>Tables</a:t>
            </a:r>
          </a:p>
        </p:txBody>
      </p:sp>
      <p:sp>
        <p:nvSpPr>
          <p:cNvPr id="5" name="TextBox 4">
            <a:extLst>
              <a:ext uri="{FF2B5EF4-FFF2-40B4-BE49-F238E27FC236}">
                <a16:creationId xmlns:a16="http://schemas.microsoft.com/office/drawing/2014/main" id="{31541D0A-C9EC-A6FC-6B9C-F214ED81EF3F}"/>
              </a:ext>
            </a:extLst>
          </p:cNvPr>
          <p:cNvSpPr txBox="1"/>
          <p:nvPr/>
        </p:nvSpPr>
        <p:spPr>
          <a:xfrm>
            <a:off x="1588168" y="1435585"/>
            <a:ext cx="2727158" cy="523220"/>
          </a:xfrm>
          <a:prstGeom prst="rect">
            <a:avLst/>
          </a:prstGeom>
          <a:noFill/>
        </p:spPr>
        <p:txBody>
          <a:bodyPr wrap="square">
            <a:spAutoFit/>
          </a:bodyPr>
          <a:lstStyle/>
          <a:p>
            <a:pPr marL="12700">
              <a:lnSpc>
                <a:spcPct val="100000"/>
              </a:lnSpc>
              <a:spcBef>
                <a:spcPts val="100"/>
              </a:spcBef>
            </a:pPr>
            <a:r>
              <a:rPr lang="en-US" sz="2800" b="1" spc="-160" dirty="0">
                <a:latin typeface="Times New Roman"/>
                <a:cs typeface="Times New Roman"/>
              </a:rPr>
              <a:t>Products </a:t>
            </a:r>
            <a:r>
              <a:rPr lang="en-US" sz="2800" b="1" spc="-45" dirty="0">
                <a:latin typeface="Times New Roman"/>
                <a:cs typeface="Times New Roman"/>
              </a:rPr>
              <a:t>Table</a:t>
            </a:r>
            <a:endParaRPr lang="en-US" sz="2800" dirty="0">
              <a:latin typeface="Times New Roman"/>
              <a:cs typeface="Times New Roman"/>
            </a:endParaRPr>
          </a:p>
        </p:txBody>
      </p:sp>
      <p:pic>
        <p:nvPicPr>
          <p:cNvPr id="6" name="object 18">
            <a:extLst>
              <a:ext uri="{FF2B5EF4-FFF2-40B4-BE49-F238E27FC236}">
                <a16:creationId xmlns:a16="http://schemas.microsoft.com/office/drawing/2014/main" id="{EBE89DF7-5AA6-69E1-B359-A2639513FB5A}"/>
              </a:ext>
            </a:extLst>
          </p:cNvPr>
          <p:cNvPicPr/>
          <p:nvPr/>
        </p:nvPicPr>
        <p:blipFill>
          <a:blip r:embed="rId2" cstate="print"/>
          <a:stretch>
            <a:fillRect/>
          </a:stretch>
        </p:blipFill>
        <p:spPr>
          <a:xfrm>
            <a:off x="689810" y="2166822"/>
            <a:ext cx="4828674" cy="1524476"/>
          </a:xfrm>
          <a:prstGeom prst="rect">
            <a:avLst/>
          </a:prstGeom>
        </p:spPr>
      </p:pic>
      <p:sp>
        <p:nvSpPr>
          <p:cNvPr id="8" name="TextBox 7">
            <a:extLst>
              <a:ext uri="{FF2B5EF4-FFF2-40B4-BE49-F238E27FC236}">
                <a16:creationId xmlns:a16="http://schemas.microsoft.com/office/drawing/2014/main" id="{745E3550-5062-CB76-174A-45C03C95F560}"/>
              </a:ext>
            </a:extLst>
          </p:cNvPr>
          <p:cNvSpPr txBox="1"/>
          <p:nvPr/>
        </p:nvSpPr>
        <p:spPr>
          <a:xfrm>
            <a:off x="8293769" y="2166822"/>
            <a:ext cx="2470484" cy="523220"/>
          </a:xfrm>
          <a:prstGeom prst="rect">
            <a:avLst/>
          </a:prstGeom>
          <a:noFill/>
        </p:spPr>
        <p:txBody>
          <a:bodyPr wrap="square">
            <a:spAutoFit/>
          </a:bodyPr>
          <a:lstStyle/>
          <a:p>
            <a:pPr marL="12700">
              <a:lnSpc>
                <a:spcPct val="100000"/>
              </a:lnSpc>
              <a:spcBef>
                <a:spcPts val="100"/>
              </a:spcBef>
            </a:pPr>
            <a:r>
              <a:rPr lang="en-IN" sz="2800" b="1" dirty="0">
                <a:latin typeface="Times New Roman"/>
                <a:cs typeface="Times New Roman"/>
              </a:rPr>
              <a:t>Orders</a:t>
            </a:r>
            <a:r>
              <a:rPr lang="en-IN" sz="2800" b="1" spc="-160" dirty="0">
                <a:latin typeface="Times New Roman"/>
                <a:cs typeface="Times New Roman"/>
              </a:rPr>
              <a:t> </a:t>
            </a:r>
            <a:r>
              <a:rPr lang="en-IN" sz="2800" b="1" spc="-40" dirty="0">
                <a:latin typeface="Times New Roman"/>
                <a:cs typeface="Times New Roman"/>
              </a:rPr>
              <a:t>Table</a:t>
            </a:r>
            <a:endParaRPr lang="en-IN" sz="2800" dirty="0">
              <a:latin typeface="Times New Roman"/>
              <a:cs typeface="Times New Roman"/>
            </a:endParaRPr>
          </a:p>
        </p:txBody>
      </p:sp>
      <p:pic>
        <p:nvPicPr>
          <p:cNvPr id="9" name="object 6">
            <a:extLst>
              <a:ext uri="{FF2B5EF4-FFF2-40B4-BE49-F238E27FC236}">
                <a16:creationId xmlns:a16="http://schemas.microsoft.com/office/drawing/2014/main" id="{7B1D698C-80E1-3A41-891B-526841F62F4D}"/>
              </a:ext>
            </a:extLst>
          </p:cNvPr>
          <p:cNvPicPr/>
          <p:nvPr/>
        </p:nvPicPr>
        <p:blipFill>
          <a:blip r:embed="rId3" cstate="print"/>
          <a:stretch>
            <a:fillRect/>
          </a:stretch>
        </p:blipFill>
        <p:spPr>
          <a:xfrm>
            <a:off x="7002499" y="2929060"/>
            <a:ext cx="5053023" cy="1661874"/>
          </a:xfrm>
          <a:prstGeom prst="rect">
            <a:avLst/>
          </a:prstGeom>
        </p:spPr>
      </p:pic>
      <p:sp>
        <p:nvSpPr>
          <p:cNvPr id="11" name="TextBox 10">
            <a:extLst>
              <a:ext uri="{FF2B5EF4-FFF2-40B4-BE49-F238E27FC236}">
                <a16:creationId xmlns:a16="http://schemas.microsoft.com/office/drawing/2014/main" id="{A8AB42E4-7091-0B63-B48D-251FF87C8CAF}"/>
              </a:ext>
            </a:extLst>
          </p:cNvPr>
          <p:cNvSpPr txBox="1"/>
          <p:nvPr/>
        </p:nvSpPr>
        <p:spPr>
          <a:xfrm>
            <a:off x="1387641" y="3899315"/>
            <a:ext cx="3433011" cy="523220"/>
          </a:xfrm>
          <a:prstGeom prst="rect">
            <a:avLst/>
          </a:prstGeom>
          <a:noFill/>
        </p:spPr>
        <p:txBody>
          <a:bodyPr wrap="square">
            <a:spAutoFit/>
          </a:bodyPr>
          <a:lstStyle/>
          <a:p>
            <a:pPr marL="12700">
              <a:lnSpc>
                <a:spcPct val="100000"/>
              </a:lnSpc>
              <a:spcBef>
                <a:spcPts val="100"/>
              </a:spcBef>
            </a:pPr>
            <a:r>
              <a:rPr lang="en-IN" sz="2800" b="1" dirty="0">
                <a:latin typeface="Times New Roman"/>
                <a:cs typeface="Times New Roman"/>
              </a:rPr>
              <a:t>Order details</a:t>
            </a:r>
            <a:r>
              <a:rPr lang="en-IN" sz="2800" b="1" spc="-165" dirty="0">
                <a:latin typeface="Times New Roman"/>
                <a:cs typeface="Times New Roman"/>
              </a:rPr>
              <a:t> </a:t>
            </a:r>
            <a:r>
              <a:rPr lang="en-IN" sz="2800" b="1" spc="-40" dirty="0">
                <a:latin typeface="Times New Roman"/>
                <a:cs typeface="Times New Roman"/>
              </a:rPr>
              <a:t>Table</a:t>
            </a:r>
            <a:endParaRPr lang="en-IN" sz="2800" dirty="0">
              <a:latin typeface="Times New Roman"/>
              <a:cs typeface="Times New Roman"/>
            </a:endParaRPr>
          </a:p>
        </p:txBody>
      </p:sp>
      <p:pic>
        <p:nvPicPr>
          <p:cNvPr id="12" name="object 5">
            <a:extLst>
              <a:ext uri="{FF2B5EF4-FFF2-40B4-BE49-F238E27FC236}">
                <a16:creationId xmlns:a16="http://schemas.microsoft.com/office/drawing/2014/main" id="{D90841E6-59E0-7BFB-F9C4-605036B2FFBC}"/>
              </a:ext>
            </a:extLst>
          </p:cNvPr>
          <p:cNvPicPr/>
          <p:nvPr/>
        </p:nvPicPr>
        <p:blipFill>
          <a:blip r:embed="rId4" cstate="print"/>
          <a:stretch>
            <a:fillRect/>
          </a:stretch>
        </p:blipFill>
        <p:spPr>
          <a:xfrm>
            <a:off x="689810" y="4526278"/>
            <a:ext cx="5108634" cy="2075842"/>
          </a:xfrm>
          <a:prstGeom prst="rect">
            <a:avLst/>
          </a:prstGeom>
        </p:spPr>
      </p:pic>
      <p:pic>
        <p:nvPicPr>
          <p:cNvPr id="13" name="Picture 12">
            <a:extLst>
              <a:ext uri="{FF2B5EF4-FFF2-40B4-BE49-F238E27FC236}">
                <a16:creationId xmlns:a16="http://schemas.microsoft.com/office/drawing/2014/main" id="{DEEDF626-601B-0676-9F95-D01177513DE7}"/>
              </a:ext>
            </a:extLst>
          </p:cNvPr>
          <p:cNvPicPr>
            <a:picLocks noChangeAspect="1"/>
          </p:cNvPicPr>
          <p:nvPr/>
        </p:nvPicPr>
        <p:blipFill>
          <a:blip r:embed="rId5"/>
          <a:stretch>
            <a:fillRect/>
          </a:stretch>
        </p:blipFill>
        <p:spPr>
          <a:xfrm>
            <a:off x="87105" y="68826"/>
            <a:ext cx="3767140" cy="847337"/>
          </a:xfrm>
          <a:prstGeom prst="rect">
            <a:avLst/>
          </a:prstGeom>
        </p:spPr>
      </p:pic>
    </p:spTree>
    <p:extLst>
      <p:ext uri="{BB962C8B-B14F-4D97-AF65-F5344CB8AC3E}">
        <p14:creationId xmlns:p14="http://schemas.microsoft.com/office/powerpoint/2010/main" val="17295674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C671A77-D705-6874-3C61-F3C65B22031D}"/>
              </a:ext>
            </a:extLst>
          </p:cNvPr>
          <p:cNvSpPr txBox="1"/>
          <p:nvPr/>
        </p:nvSpPr>
        <p:spPr>
          <a:xfrm>
            <a:off x="3854245" y="728395"/>
            <a:ext cx="3465095" cy="646331"/>
          </a:xfrm>
          <a:prstGeom prst="rect">
            <a:avLst/>
          </a:prstGeom>
          <a:noFill/>
        </p:spPr>
        <p:txBody>
          <a:bodyPr wrap="square">
            <a:spAutoFit/>
          </a:bodyPr>
          <a:lstStyle/>
          <a:p>
            <a:pPr algn="ctr"/>
            <a:r>
              <a:rPr lang="en-IN" sz="3600" b="1" dirty="0"/>
              <a:t>ER</a:t>
            </a:r>
            <a:r>
              <a:rPr lang="en-IN" sz="3600" b="1" spc="-45" dirty="0"/>
              <a:t> </a:t>
            </a:r>
            <a:r>
              <a:rPr lang="en-IN" sz="3600" b="1" spc="-10" dirty="0"/>
              <a:t>Diagram</a:t>
            </a:r>
            <a:endParaRPr lang="en-IN" sz="3600" b="1" dirty="0"/>
          </a:p>
        </p:txBody>
      </p:sp>
      <p:pic>
        <p:nvPicPr>
          <p:cNvPr id="4" name="object 4">
            <a:extLst>
              <a:ext uri="{FF2B5EF4-FFF2-40B4-BE49-F238E27FC236}">
                <a16:creationId xmlns:a16="http://schemas.microsoft.com/office/drawing/2014/main" id="{CBFEAACD-ECEF-E199-D63E-8ADDEBCA450B}"/>
              </a:ext>
            </a:extLst>
          </p:cNvPr>
          <p:cNvPicPr/>
          <p:nvPr/>
        </p:nvPicPr>
        <p:blipFill>
          <a:blip r:embed="rId2" cstate="print"/>
          <a:stretch>
            <a:fillRect/>
          </a:stretch>
        </p:blipFill>
        <p:spPr>
          <a:xfrm>
            <a:off x="1970675" y="1707649"/>
            <a:ext cx="7739314" cy="4956192"/>
          </a:xfrm>
          <a:prstGeom prst="rect">
            <a:avLst/>
          </a:prstGeom>
        </p:spPr>
      </p:pic>
      <p:pic>
        <p:nvPicPr>
          <p:cNvPr id="5" name="Picture 4">
            <a:extLst>
              <a:ext uri="{FF2B5EF4-FFF2-40B4-BE49-F238E27FC236}">
                <a16:creationId xmlns:a16="http://schemas.microsoft.com/office/drawing/2014/main" id="{6DC27ED5-D896-5DFD-9481-471DAE89FCAE}"/>
              </a:ext>
            </a:extLst>
          </p:cNvPr>
          <p:cNvPicPr>
            <a:picLocks noChangeAspect="1"/>
          </p:cNvPicPr>
          <p:nvPr/>
        </p:nvPicPr>
        <p:blipFill>
          <a:blip r:embed="rId3"/>
          <a:stretch>
            <a:fillRect/>
          </a:stretch>
        </p:blipFill>
        <p:spPr>
          <a:xfrm>
            <a:off x="87105" y="23106"/>
            <a:ext cx="3767140" cy="847337"/>
          </a:xfrm>
          <a:prstGeom prst="rect">
            <a:avLst/>
          </a:prstGeom>
        </p:spPr>
      </p:pic>
    </p:spTree>
    <p:extLst>
      <p:ext uri="{BB962C8B-B14F-4D97-AF65-F5344CB8AC3E}">
        <p14:creationId xmlns:p14="http://schemas.microsoft.com/office/powerpoint/2010/main" val="37037453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FCCC0EB-A9CA-F663-556B-942F0C7EDCA7}"/>
              </a:ext>
            </a:extLst>
          </p:cNvPr>
          <p:cNvSpPr txBox="1"/>
          <p:nvPr/>
        </p:nvSpPr>
        <p:spPr>
          <a:xfrm>
            <a:off x="2963917" y="987514"/>
            <a:ext cx="5511569" cy="646331"/>
          </a:xfrm>
          <a:prstGeom prst="rect">
            <a:avLst/>
          </a:prstGeom>
          <a:noFill/>
        </p:spPr>
        <p:txBody>
          <a:bodyPr wrap="square">
            <a:spAutoFit/>
          </a:bodyPr>
          <a:lstStyle/>
          <a:p>
            <a:pPr algn="ctr"/>
            <a:r>
              <a:rPr lang="en-IN" sz="3600" b="1" dirty="0"/>
              <a:t>Problem</a:t>
            </a:r>
            <a:r>
              <a:rPr lang="en-IN" sz="3600" b="1" spc="-250" dirty="0"/>
              <a:t> </a:t>
            </a:r>
            <a:r>
              <a:rPr lang="en-IN" sz="3600" b="1" spc="-10" dirty="0"/>
              <a:t>Statement</a:t>
            </a:r>
            <a:endParaRPr lang="en-IN" sz="3600" b="1" dirty="0"/>
          </a:p>
        </p:txBody>
      </p:sp>
      <p:sp>
        <p:nvSpPr>
          <p:cNvPr id="5" name="TextBox 4">
            <a:extLst>
              <a:ext uri="{FF2B5EF4-FFF2-40B4-BE49-F238E27FC236}">
                <a16:creationId xmlns:a16="http://schemas.microsoft.com/office/drawing/2014/main" id="{3B1E46A7-40C0-AB14-784C-6CEEFE16BE78}"/>
              </a:ext>
            </a:extLst>
          </p:cNvPr>
          <p:cNvSpPr txBox="1"/>
          <p:nvPr/>
        </p:nvSpPr>
        <p:spPr>
          <a:xfrm>
            <a:off x="271609" y="2202993"/>
            <a:ext cx="11257685" cy="4008470"/>
          </a:xfrm>
          <a:prstGeom prst="rect">
            <a:avLst/>
          </a:prstGeom>
          <a:noFill/>
        </p:spPr>
        <p:txBody>
          <a:bodyPr wrap="square">
            <a:spAutoFit/>
          </a:bodyPr>
          <a:lstStyle/>
          <a:p>
            <a:pPr marL="12700" marR="5080" algn="just">
              <a:lnSpc>
                <a:spcPct val="119000"/>
              </a:lnSpc>
              <a:spcBef>
                <a:spcPts val="100"/>
              </a:spcBef>
            </a:pPr>
            <a:r>
              <a:rPr lang="en-US" sz="2400" dirty="0">
                <a:effectLst>
                  <a:outerShdw blurRad="38100" dist="38100" dir="2700000" algn="tl">
                    <a:srgbClr val="000000">
                      <a:alpha val="43137"/>
                    </a:srgbClr>
                  </a:outerShdw>
                </a:effectLst>
              </a:rPr>
              <a:t>In the dynamic environment of a retail grocery store, managing and analyzing large volumes of data related to products, suppliers, customers, and orders is crucial for efficient operations and informed decision-making. This project aims to design and implement a relational database system that captures essential store activities and enables users to retrieve and analyze data through SQL. The system will support complex queries to identify key business insights such as top-performing  products,  high-value  customers,  and  revenue  patterns,  while reinforcing  practical  SQL  skills  including  joins,  aggregations,  subqueries,  and filtering.</a:t>
            </a:r>
          </a:p>
        </p:txBody>
      </p:sp>
      <p:pic>
        <p:nvPicPr>
          <p:cNvPr id="6" name="Picture 5">
            <a:extLst>
              <a:ext uri="{FF2B5EF4-FFF2-40B4-BE49-F238E27FC236}">
                <a16:creationId xmlns:a16="http://schemas.microsoft.com/office/drawing/2014/main" id="{C1E1803B-2B49-6230-35A7-3FD47F68528F}"/>
              </a:ext>
            </a:extLst>
          </p:cNvPr>
          <p:cNvPicPr>
            <a:picLocks noChangeAspect="1"/>
          </p:cNvPicPr>
          <p:nvPr/>
        </p:nvPicPr>
        <p:blipFill>
          <a:blip r:embed="rId2"/>
          <a:stretch>
            <a:fillRect/>
          </a:stretch>
        </p:blipFill>
        <p:spPr>
          <a:xfrm>
            <a:off x="87105" y="68827"/>
            <a:ext cx="3482263" cy="783260"/>
          </a:xfrm>
          <a:prstGeom prst="rect">
            <a:avLst/>
          </a:prstGeom>
        </p:spPr>
      </p:pic>
    </p:spTree>
    <p:extLst>
      <p:ext uri="{BB962C8B-B14F-4D97-AF65-F5344CB8AC3E}">
        <p14:creationId xmlns:p14="http://schemas.microsoft.com/office/powerpoint/2010/main" val="930221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492833D-D4A9-3F57-2F47-D638FA21AF35}"/>
              </a:ext>
            </a:extLst>
          </p:cNvPr>
          <p:cNvSpPr txBox="1"/>
          <p:nvPr/>
        </p:nvSpPr>
        <p:spPr>
          <a:xfrm>
            <a:off x="2196662" y="1091710"/>
            <a:ext cx="8186591" cy="954107"/>
          </a:xfrm>
          <a:prstGeom prst="rect">
            <a:avLst/>
          </a:prstGeom>
          <a:noFill/>
        </p:spPr>
        <p:txBody>
          <a:bodyPr wrap="square">
            <a:spAutoFit/>
          </a:bodyPr>
          <a:lstStyle/>
          <a:p>
            <a:pPr algn="ctr"/>
            <a:r>
              <a:rPr lang="en-US" sz="2800" b="1" dirty="0"/>
              <a:t>1.How</a:t>
            </a:r>
            <a:r>
              <a:rPr lang="en-US" sz="2800" b="1" spc="-85" dirty="0"/>
              <a:t> </a:t>
            </a:r>
            <a:r>
              <a:rPr lang="en-US" sz="2800" b="1" dirty="0"/>
              <a:t>many</a:t>
            </a:r>
            <a:r>
              <a:rPr lang="en-US" sz="2800" b="1" spc="-35" dirty="0"/>
              <a:t> </a:t>
            </a:r>
            <a:r>
              <a:rPr lang="en-US" sz="2800" b="1" dirty="0"/>
              <a:t>unique</a:t>
            </a:r>
            <a:r>
              <a:rPr lang="en-US" sz="2800" b="1" spc="-55" dirty="0"/>
              <a:t> </a:t>
            </a:r>
            <a:r>
              <a:rPr lang="en-US" sz="2800" b="1" dirty="0"/>
              <a:t>customers</a:t>
            </a:r>
            <a:r>
              <a:rPr lang="en-US" sz="2800" b="1" spc="-25" dirty="0"/>
              <a:t> </a:t>
            </a:r>
            <a:r>
              <a:rPr lang="en-US" sz="2800" b="1" dirty="0"/>
              <a:t>have</a:t>
            </a:r>
            <a:r>
              <a:rPr lang="en-US" sz="2800" b="1" spc="-40" dirty="0"/>
              <a:t> </a:t>
            </a:r>
            <a:r>
              <a:rPr lang="en-US" sz="2800" b="1" dirty="0"/>
              <a:t>placed</a:t>
            </a:r>
            <a:r>
              <a:rPr lang="en-US" sz="2800" b="1" spc="-45" dirty="0"/>
              <a:t> </a:t>
            </a:r>
            <a:r>
              <a:rPr lang="en-US" sz="2800" b="1" spc="-10" dirty="0"/>
              <a:t>orders?</a:t>
            </a:r>
            <a:endParaRPr lang="en-IN" sz="2800" b="1" dirty="0"/>
          </a:p>
        </p:txBody>
      </p:sp>
      <p:pic>
        <p:nvPicPr>
          <p:cNvPr id="4" name="object 3">
            <a:extLst>
              <a:ext uri="{FF2B5EF4-FFF2-40B4-BE49-F238E27FC236}">
                <a16:creationId xmlns:a16="http://schemas.microsoft.com/office/drawing/2014/main" id="{877FE261-664D-8BB8-0E86-00C2943CE586}"/>
              </a:ext>
            </a:extLst>
          </p:cNvPr>
          <p:cNvPicPr/>
          <p:nvPr/>
        </p:nvPicPr>
        <p:blipFill>
          <a:blip r:embed="rId2" cstate="print"/>
          <a:stretch>
            <a:fillRect/>
          </a:stretch>
        </p:blipFill>
        <p:spPr>
          <a:xfrm>
            <a:off x="780047" y="2386174"/>
            <a:ext cx="5315953" cy="1484777"/>
          </a:xfrm>
          <a:prstGeom prst="rect">
            <a:avLst/>
          </a:prstGeom>
        </p:spPr>
      </p:pic>
      <p:pic>
        <p:nvPicPr>
          <p:cNvPr id="5" name="object 4">
            <a:extLst>
              <a:ext uri="{FF2B5EF4-FFF2-40B4-BE49-F238E27FC236}">
                <a16:creationId xmlns:a16="http://schemas.microsoft.com/office/drawing/2014/main" id="{38F9F300-0212-7F96-49E9-1F66B69D86C5}"/>
              </a:ext>
            </a:extLst>
          </p:cNvPr>
          <p:cNvPicPr/>
          <p:nvPr/>
        </p:nvPicPr>
        <p:blipFill>
          <a:blip r:embed="rId3" cstate="print"/>
          <a:stretch>
            <a:fillRect/>
          </a:stretch>
        </p:blipFill>
        <p:spPr>
          <a:xfrm>
            <a:off x="5817338" y="4211309"/>
            <a:ext cx="4565915" cy="1554981"/>
          </a:xfrm>
          <a:prstGeom prst="rect">
            <a:avLst/>
          </a:prstGeom>
        </p:spPr>
      </p:pic>
      <p:pic>
        <p:nvPicPr>
          <p:cNvPr id="6" name="Picture 5">
            <a:extLst>
              <a:ext uri="{FF2B5EF4-FFF2-40B4-BE49-F238E27FC236}">
                <a16:creationId xmlns:a16="http://schemas.microsoft.com/office/drawing/2014/main" id="{6558495A-656F-4BEA-2913-0F134E6C75C1}"/>
              </a:ext>
            </a:extLst>
          </p:cNvPr>
          <p:cNvPicPr>
            <a:picLocks noChangeAspect="1"/>
          </p:cNvPicPr>
          <p:nvPr/>
        </p:nvPicPr>
        <p:blipFill>
          <a:blip r:embed="rId4"/>
          <a:stretch>
            <a:fillRect/>
          </a:stretch>
        </p:blipFill>
        <p:spPr>
          <a:xfrm>
            <a:off x="87105" y="68826"/>
            <a:ext cx="3767140" cy="847337"/>
          </a:xfrm>
          <a:prstGeom prst="rect">
            <a:avLst/>
          </a:prstGeom>
        </p:spPr>
      </p:pic>
    </p:spTree>
    <p:extLst>
      <p:ext uri="{BB962C8B-B14F-4D97-AF65-F5344CB8AC3E}">
        <p14:creationId xmlns:p14="http://schemas.microsoft.com/office/powerpoint/2010/main" val="28944899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0E271E7A-E91B-0ECC-6CEF-782D8288B03D}"/>
              </a:ext>
            </a:extLst>
          </p:cNvPr>
          <p:cNvSpPr txBox="1"/>
          <p:nvPr/>
        </p:nvSpPr>
        <p:spPr>
          <a:xfrm>
            <a:off x="1334814" y="1034534"/>
            <a:ext cx="9846533" cy="954107"/>
          </a:xfrm>
          <a:prstGeom prst="rect">
            <a:avLst/>
          </a:prstGeom>
          <a:noFill/>
        </p:spPr>
        <p:txBody>
          <a:bodyPr wrap="square">
            <a:spAutoFit/>
          </a:bodyPr>
          <a:lstStyle/>
          <a:p>
            <a:pPr algn="ctr"/>
            <a:r>
              <a:rPr lang="en-US" sz="2800" b="1" dirty="0"/>
              <a:t>2.Which</a:t>
            </a:r>
            <a:r>
              <a:rPr lang="en-US" sz="2800" b="1" spc="-10" dirty="0"/>
              <a:t> </a:t>
            </a:r>
            <a:r>
              <a:rPr lang="en-US" sz="2800" b="1" dirty="0"/>
              <a:t>customers</a:t>
            </a:r>
            <a:r>
              <a:rPr lang="en-US" sz="2800" b="1" spc="-35" dirty="0"/>
              <a:t> </a:t>
            </a:r>
            <a:r>
              <a:rPr lang="en-US" sz="2800" b="1" dirty="0"/>
              <a:t>have</a:t>
            </a:r>
            <a:r>
              <a:rPr lang="en-US" sz="2800" b="1" spc="-20" dirty="0"/>
              <a:t> </a:t>
            </a:r>
            <a:r>
              <a:rPr lang="en-US" sz="2800" b="1" dirty="0"/>
              <a:t>placed</a:t>
            </a:r>
            <a:r>
              <a:rPr lang="en-US" sz="2800" b="1" spc="-10" dirty="0"/>
              <a:t> </a:t>
            </a:r>
            <a:r>
              <a:rPr lang="en-US" sz="2800" b="1" dirty="0"/>
              <a:t>the</a:t>
            </a:r>
            <a:r>
              <a:rPr lang="en-US" sz="2800" b="1" spc="-20" dirty="0"/>
              <a:t> </a:t>
            </a:r>
            <a:r>
              <a:rPr lang="en-US" sz="2800" b="1" dirty="0"/>
              <a:t>highest</a:t>
            </a:r>
            <a:r>
              <a:rPr lang="en-US" sz="2800" b="1" spc="-20" dirty="0"/>
              <a:t> </a:t>
            </a:r>
            <a:r>
              <a:rPr lang="en-US" sz="2800" b="1" dirty="0"/>
              <a:t>number</a:t>
            </a:r>
            <a:r>
              <a:rPr lang="en-US" sz="2800" b="1" spc="-90" dirty="0"/>
              <a:t> </a:t>
            </a:r>
            <a:r>
              <a:rPr lang="en-US" sz="2800" b="1" dirty="0"/>
              <a:t>of</a:t>
            </a:r>
            <a:r>
              <a:rPr lang="en-US" sz="2800" b="1" spc="-30" dirty="0"/>
              <a:t> </a:t>
            </a:r>
            <a:r>
              <a:rPr lang="en-US" sz="2800" b="1" spc="-10" dirty="0"/>
              <a:t>orders?</a:t>
            </a:r>
            <a:endParaRPr lang="en-IN" sz="2800" b="1" dirty="0"/>
          </a:p>
        </p:txBody>
      </p:sp>
      <p:pic>
        <p:nvPicPr>
          <p:cNvPr id="7" name="object 4">
            <a:extLst>
              <a:ext uri="{FF2B5EF4-FFF2-40B4-BE49-F238E27FC236}">
                <a16:creationId xmlns:a16="http://schemas.microsoft.com/office/drawing/2014/main" id="{F294F1C4-D75E-969B-1F59-18E3244ACD66}"/>
              </a:ext>
            </a:extLst>
          </p:cNvPr>
          <p:cNvPicPr/>
          <p:nvPr/>
        </p:nvPicPr>
        <p:blipFill>
          <a:blip r:embed="rId2" cstate="print"/>
          <a:stretch>
            <a:fillRect/>
          </a:stretch>
        </p:blipFill>
        <p:spPr>
          <a:xfrm>
            <a:off x="1028700" y="2257044"/>
            <a:ext cx="5436268" cy="2347040"/>
          </a:xfrm>
          <a:prstGeom prst="rect">
            <a:avLst/>
          </a:prstGeom>
        </p:spPr>
      </p:pic>
      <p:pic>
        <p:nvPicPr>
          <p:cNvPr id="8" name="object 5">
            <a:extLst>
              <a:ext uri="{FF2B5EF4-FFF2-40B4-BE49-F238E27FC236}">
                <a16:creationId xmlns:a16="http://schemas.microsoft.com/office/drawing/2014/main" id="{993651EC-0B31-930A-2D94-F097DE7D5F45}"/>
              </a:ext>
            </a:extLst>
          </p:cNvPr>
          <p:cNvPicPr/>
          <p:nvPr/>
        </p:nvPicPr>
        <p:blipFill>
          <a:blip r:embed="rId3" cstate="print"/>
          <a:stretch>
            <a:fillRect/>
          </a:stretch>
        </p:blipFill>
        <p:spPr>
          <a:xfrm>
            <a:off x="4792579" y="4691267"/>
            <a:ext cx="6116053" cy="1224213"/>
          </a:xfrm>
          <a:prstGeom prst="rect">
            <a:avLst/>
          </a:prstGeom>
        </p:spPr>
      </p:pic>
      <p:pic>
        <p:nvPicPr>
          <p:cNvPr id="9" name="Picture 8">
            <a:extLst>
              <a:ext uri="{FF2B5EF4-FFF2-40B4-BE49-F238E27FC236}">
                <a16:creationId xmlns:a16="http://schemas.microsoft.com/office/drawing/2014/main" id="{42B00C37-6CC4-2B64-6423-8C3671515E9A}"/>
              </a:ext>
            </a:extLst>
          </p:cNvPr>
          <p:cNvPicPr>
            <a:picLocks noChangeAspect="1"/>
          </p:cNvPicPr>
          <p:nvPr/>
        </p:nvPicPr>
        <p:blipFill>
          <a:blip r:embed="rId4"/>
          <a:stretch>
            <a:fillRect/>
          </a:stretch>
        </p:blipFill>
        <p:spPr>
          <a:xfrm>
            <a:off x="87105" y="68826"/>
            <a:ext cx="3767140" cy="847337"/>
          </a:xfrm>
          <a:prstGeom prst="rect">
            <a:avLst/>
          </a:prstGeom>
        </p:spPr>
      </p:pic>
    </p:spTree>
    <p:extLst>
      <p:ext uri="{BB962C8B-B14F-4D97-AF65-F5344CB8AC3E}">
        <p14:creationId xmlns:p14="http://schemas.microsoft.com/office/powerpoint/2010/main" val="2699466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086CAC-A1F6-8E5B-DD59-AAB0F486096C}"/>
              </a:ext>
            </a:extLst>
          </p:cNvPr>
          <p:cNvSpPr txBox="1"/>
          <p:nvPr/>
        </p:nvSpPr>
        <p:spPr>
          <a:xfrm>
            <a:off x="1201394" y="1130786"/>
            <a:ext cx="9763385" cy="954107"/>
          </a:xfrm>
          <a:prstGeom prst="rect">
            <a:avLst/>
          </a:prstGeom>
          <a:noFill/>
        </p:spPr>
        <p:txBody>
          <a:bodyPr wrap="square">
            <a:spAutoFit/>
          </a:bodyPr>
          <a:lstStyle/>
          <a:p>
            <a:pPr algn="ctr"/>
            <a:r>
              <a:rPr lang="en-US" sz="2800" b="1" dirty="0"/>
              <a:t>3.What</a:t>
            </a:r>
            <a:r>
              <a:rPr lang="en-US" sz="2800" b="1" spc="-30" dirty="0"/>
              <a:t> </a:t>
            </a:r>
            <a:r>
              <a:rPr lang="en-US" sz="2800" b="1" dirty="0"/>
              <a:t>is</a:t>
            </a:r>
            <a:r>
              <a:rPr lang="en-US" sz="2800" b="1" spc="-25" dirty="0"/>
              <a:t> </a:t>
            </a:r>
            <a:r>
              <a:rPr lang="en-US" sz="2800" b="1" dirty="0"/>
              <a:t>the</a:t>
            </a:r>
            <a:r>
              <a:rPr lang="en-US" sz="2800" b="1" spc="-25" dirty="0"/>
              <a:t> </a:t>
            </a:r>
            <a:r>
              <a:rPr lang="en-US" sz="2800" b="1" dirty="0"/>
              <a:t>total</a:t>
            </a:r>
            <a:r>
              <a:rPr lang="en-US" sz="2800" b="1" spc="5" dirty="0"/>
              <a:t> </a:t>
            </a:r>
            <a:r>
              <a:rPr lang="en-US" sz="2800" b="1" dirty="0"/>
              <a:t>and</a:t>
            </a:r>
            <a:r>
              <a:rPr lang="en-US" sz="2800" b="1" spc="-15" dirty="0"/>
              <a:t> </a:t>
            </a:r>
            <a:r>
              <a:rPr lang="en-US" sz="2800" b="1" dirty="0"/>
              <a:t>average</a:t>
            </a:r>
            <a:r>
              <a:rPr lang="en-US" sz="2800" b="1" spc="-35" dirty="0"/>
              <a:t> </a:t>
            </a:r>
            <a:r>
              <a:rPr lang="en-US" sz="2800" b="1" dirty="0"/>
              <a:t>purchase</a:t>
            </a:r>
            <a:r>
              <a:rPr lang="en-US" sz="2800" b="1" spc="-10" dirty="0"/>
              <a:t> </a:t>
            </a:r>
            <a:r>
              <a:rPr lang="en-US" sz="2800" b="1" dirty="0"/>
              <a:t>value</a:t>
            </a:r>
            <a:r>
              <a:rPr lang="en-US" sz="2800" b="1" spc="-40" dirty="0"/>
              <a:t> </a:t>
            </a:r>
            <a:r>
              <a:rPr lang="en-US" sz="2800" b="1" dirty="0"/>
              <a:t>per</a:t>
            </a:r>
            <a:r>
              <a:rPr lang="en-US" sz="2800" b="1" spc="-90" dirty="0"/>
              <a:t> </a:t>
            </a:r>
            <a:r>
              <a:rPr lang="en-US" sz="2800" b="1" spc="-10" dirty="0"/>
              <a:t>customer?</a:t>
            </a:r>
            <a:endParaRPr lang="en-IN" sz="2800" b="1" dirty="0"/>
          </a:p>
        </p:txBody>
      </p:sp>
      <p:pic>
        <p:nvPicPr>
          <p:cNvPr id="4" name="object 4">
            <a:extLst>
              <a:ext uri="{FF2B5EF4-FFF2-40B4-BE49-F238E27FC236}">
                <a16:creationId xmlns:a16="http://schemas.microsoft.com/office/drawing/2014/main" id="{F63069D6-75F1-1EBD-2501-2A87AEB34B6D}"/>
              </a:ext>
            </a:extLst>
          </p:cNvPr>
          <p:cNvPicPr/>
          <p:nvPr/>
        </p:nvPicPr>
        <p:blipFill>
          <a:blip r:embed="rId2" cstate="print"/>
          <a:stretch>
            <a:fillRect/>
          </a:stretch>
        </p:blipFill>
        <p:spPr>
          <a:xfrm>
            <a:off x="1201394" y="2360939"/>
            <a:ext cx="3967293" cy="2968912"/>
          </a:xfrm>
          <a:prstGeom prst="rect">
            <a:avLst/>
          </a:prstGeom>
        </p:spPr>
      </p:pic>
      <p:pic>
        <p:nvPicPr>
          <p:cNvPr id="7" name="object 5">
            <a:extLst>
              <a:ext uri="{FF2B5EF4-FFF2-40B4-BE49-F238E27FC236}">
                <a16:creationId xmlns:a16="http://schemas.microsoft.com/office/drawing/2014/main" id="{4E081DEB-8782-8040-08B7-77B4535C5FBD}"/>
              </a:ext>
            </a:extLst>
          </p:cNvPr>
          <p:cNvPicPr/>
          <p:nvPr/>
        </p:nvPicPr>
        <p:blipFill>
          <a:blip r:embed="rId3" cstate="print"/>
          <a:stretch>
            <a:fillRect/>
          </a:stretch>
        </p:blipFill>
        <p:spPr>
          <a:xfrm>
            <a:off x="6750045" y="2084893"/>
            <a:ext cx="3371970" cy="4602416"/>
          </a:xfrm>
          <a:prstGeom prst="rect">
            <a:avLst/>
          </a:prstGeom>
        </p:spPr>
      </p:pic>
      <p:pic>
        <p:nvPicPr>
          <p:cNvPr id="8" name="Picture 7">
            <a:extLst>
              <a:ext uri="{FF2B5EF4-FFF2-40B4-BE49-F238E27FC236}">
                <a16:creationId xmlns:a16="http://schemas.microsoft.com/office/drawing/2014/main" id="{A4FAF397-AD7D-FA19-EB0F-1B94BD0697EE}"/>
              </a:ext>
            </a:extLst>
          </p:cNvPr>
          <p:cNvPicPr>
            <a:picLocks noChangeAspect="1"/>
          </p:cNvPicPr>
          <p:nvPr/>
        </p:nvPicPr>
        <p:blipFill>
          <a:blip r:embed="rId4"/>
          <a:stretch>
            <a:fillRect/>
          </a:stretch>
        </p:blipFill>
        <p:spPr>
          <a:xfrm>
            <a:off x="87105" y="68826"/>
            <a:ext cx="3767140" cy="847337"/>
          </a:xfrm>
          <a:prstGeom prst="rect">
            <a:avLst/>
          </a:prstGeom>
        </p:spPr>
      </p:pic>
    </p:spTree>
    <p:extLst>
      <p:ext uri="{BB962C8B-B14F-4D97-AF65-F5344CB8AC3E}">
        <p14:creationId xmlns:p14="http://schemas.microsoft.com/office/powerpoint/2010/main" val="886009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57173DB-A4D8-D409-B1F2-0A7743B0797B}"/>
              </a:ext>
            </a:extLst>
          </p:cNvPr>
          <p:cNvSpPr txBox="1"/>
          <p:nvPr/>
        </p:nvSpPr>
        <p:spPr>
          <a:xfrm>
            <a:off x="1524000" y="916163"/>
            <a:ext cx="9095873" cy="954107"/>
          </a:xfrm>
          <a:prstGeom prst="rect">
            <a:avLst/>
          </a:prstGeom>
          <a:noFill/>
        </p:spPr>
        <p:txBody>
          <a:bodyPr wrap="square">
            <a:spAutoFit/>
          </a:bodyPr>
          <a:lstStyle/>
          <a:p>
            <a:pPr algn="ctr"/>
            <a:r>
              <a:rPr lang="en-US" sz="2800" b="1" dirty="0"/>
              <a:t>4.Who</a:t>
            </a:r>
            <a:r>
              <a:rPr lang="en-US" sz="2800" b="1" spc="-30" dirty="0"/>
              <a:t> </a:t>
            </a:r>
            <a:r>
              <a:rPr lang="en-US" sz="2800" b="1" dirty="0"/>
              <a:t>are</a:t>
            </a:r>
            <a:r>
              <a:rPr lang="en-US" sz="2800" b="1" spc="-15" dirty="0"/>
              <a:t> </a:t>
            </a:r>
            <a:r>
              <a:rPr lang="en-US" sz="2800" b="1" dirty="0"/>
              <a:t>the</a:t>
            </a:r>
            <a:r>
              <a:rPr lang="en-US" sz="2800" b="1" spc="-15" dirty="0"/>
              <a:t> </a:t>
            </a:r>
            <a:r>
              <a:rPr lang="en-US" sz="2800" b="1" dirty="0"/>
              <a:t>top</a:t>
            </a:r>
            <a:r>
              <a:rPr lang="en-US" sz="2800" b="1" spc="-25" dirty="0"/>
              <a:t> </a:t>
            </a:r>
            <a:r>
              <a:rPr lang="en-US" sz="2800" b="1" dirty="0"/>
              <a:t>5</a:t>
            </a:r>
            <a:r>
              <a:rPr lang="en-US" sz="2800" b="1" spc="-15" dirty="0"/>
              <a:t> </a:t>
            </a:r>
            <a:r>
              <a:rPr lang="en-US" sz="2800" b="1" dirty="0"/>
              <a:t>customers</a:t>
            </a:r>
            <a:r>
              <a:rPr lang="en-US" sz="2800" b="1" spc="-25" dirty="0"/>
              <a:t> </a:t>
            </a:r>
            <a:r>
              <a:rPr lang="en-US" sz="2800" b="1" dirty="0"/>
              <a:t>by</a:t>
            </a:r>
            <a:r>
              <a:rPr lang="en-US" sz="2800" b="1" spc="-10" dirty="0"/>
              <a:t> </a:t>
            </a:r>
            <a:r>
              <a:rPr lang="en-US" sz="2800" b="1" dirty="0"/>
              <a:t>total</a:t>
            </a:r>
            <a:r>
              <a:rPr lang="en-US" sz="2800" b="1" spc="-60" dirty="0"/>
              <a:t> </a:t>
            </a:r>
            <a:r>
              <a:rPr lang="en-US" sz="2800" b="1" dirty="0"/>
              <a:t>purchase</a:t>
            </a:r>
            <a:r>
              <a:rPr lang="en-US" sz="2800" b="1" spc="-5" dirty="0"/>
              <a:t> </a:t>
            </a:r>
            <a:r>
              <a:rPr lang="en-US" sz="2800" b="1" spc="-10" dirty="0"/>
              <a:t>amount?</a:t>
            </a:r>
            <a:endParaRPr lang="en-IN" sz="2800" b="1" dirty="0"/>
          </a:p>
        </p:txBody>
      </p:sp>
      <p:pic>
        <p:nvPicPr>
          <p:cNvPr id="4" name="object 4">
            <a:extLst>
              <a:ext uri="{FF2B5EF4-FFF2-40B4-BE49-F238E27FC236}">
                <a16:creationId xmlns:a16="http://schemas.microsoft.com/office/drawing/2014/main" id="{9E20D1E1-4BD1-A80A-A03A-98C50C39E461}"/>
              </a:ext>
            </a:extLst>
          </p:cNvPr>
          <p:cNvPicPr/>
          <p:nvPr/>
        </p:nvPicPr>
        <p:blipFill>
          <a:blip r:embed="rId2" cstate="print"/>
          <a:stretch>
            <a:fillRect/>
          </a:stretch>
        </p:blipFill>
        <p:spPr>
          <a:xfrm>
            <a:off x="772428" y="2293018"/>
            <a:ext cx="4613856" cy="3643563"/>
          </a:xfrm>
          <a:prstGeom prst="rect">
            <a:avLst/>
          </a:prstGeom>
        </p:spPr>
      </p:pic>
      <p:pic>
        <p:nvPicPr>
          <p:cNvPr id="5" name="object 5">
            <a:extLst>
              <a:ext uri="{FF2B5EF4-FFF2-40B4-BE49-F238E27FC236}">
                <a16:creationId xmlns:a16="http://schemas.microsoft.com/office/drawing/2014/main" id="{FCE95D7C-D826-6BB6-E8B1-C57391E7EC85}"/>
              </a:ext>
            </a:extLst>
          </p:cNvPr>
          <p:cNvPicPr/>
          <p:nvPr/>
        </p:nvPicPr>
        <p:blipFill>
          <a:blip r:embed="rId3" cstate="print"/>
          <a:stretch>
            <a:fillRect/>
          </a:stretch>
        </p:blipFill>
        <p:spPr>
          <a:xfrm>
            <a:off x="6321084" y="2562665"/>
            <a:ext cx="5422334" cy="2504568"/>
          </a:xfrm>
          <a:prstGeom prst="rect">
            <a:avLst/>
          </a:prstGeom>
        </p:spPr>
      </p:pic>
      <p:pic>
        <p:nvPicPr>
          <p:cNvPr id="6" name="Picture 5">
            <a:extLst>
              <a:ext uri="{FF2B5EF4-FFF2-40B4-BE49-F238E27FC236}">
                <a16:creationId xmlns:a16="http://schemas.microsoft.com/office/drawing/2014/main" id="{ECA3E77E-D16B-062F-ED06-CCE3170B4124}"/>
              </a:ext>
            </a:extLst>
          </p:cNvPr>
          <p:cNvPicPr>
            <a:picLocks noChangeAspect="1"/>
          </p:cNvPicPr>
          <p:nvPr/>
        </p:nvPicPr>
        <p:blipFill>
          <a:blip r:embed="rId4"/>
          <a:stretch>
            <a:fillRect/>
          </a:stretch>
        </p:blipFill>
        <p:spPr>
          <a:xfrm>
            <a:off x="87105" y="68826"/>
            <a:ext cx="3767140" cy="847337"/>
          </a:xfrm>
          <a:prstGeom prst="rect">
            <a:avLst/>
          </a:prstGeom>
        </p:spPr>
      </p:pic>
    </p:spTree>
    <p:extLst>
      <p:ext uri="{BB962C8B-B14F-4D97-AF65-F5344CB8AC3E}">
        <p14:creationId xmlns:p14="http://schemas.microsoft.com/office/powerpoint/2010/main" val="30994218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F76F7E8-3C9D-3E6C-CA5D-ECE15DC84E2B}"/>
              </a:ext>
            </a:extLst>
          </p:cNvPr>
          <p:cNvSpPr txBox="1"/>
          <p:nvPr/>
        </p:nvSpPr>
        <p:spPr>
          <a:xfrm>
            <a:off x="2228193" y="949457"/>
            <a:ext cx="7289187" cy="954107"/>
          </a:xfrm>
          <a:prstGeom prst="rect">
            <a:avLst/>
          </a:prstGeom>
          <a:noFill/>
        </p:spPr>
        <p:txBody>
          <a:bodyPr wrap="square">
            <a:spAutoFit/>
          </a:bodyPr>
          <a:lstStyle/>
          <a:p>
            <a:pPr algn="ctr"/>
            <a:r>
              <a:rPr lang="en-US" sz="2800" b="1" dirty="0"/>
              <a:t>5.How</a:t>
            </a:r>
            <a:r>
              <a:rPr lang="en-US" sz="2800" b="1" spc="-30" dirty="0"/>
              <a:t> </a:t>
            </a:r>
            <a:r>
              <a:rPr lang="en-US" sz="2800" b="1" dirty="0"/>
              <a:t>many</a:t>
            </a:r>
            <a:r>
              <a:rPr lang="en-US" sz="2800" b="1" spc="-30" dirty="0"/>
              <a:t> </a:t>
            </a:r>
            <a:r>
              <a:rPr lang="en-US" sz="2800" b="1" dirty="0"/>
              <a:t>products</a:t>
            </a:r>
            <a:r>
              <a:rPr lang="en-US" sz="2800" b="1" spc="-45" dirty="0"/>
              <a:t> </a:t>
            </a:r>
            <a:r>
              <a:rPr lang="en-US" sz="2800" b="1" dirty="0"/>
              <a:t>exist</a:t>
            </a:r>
            <a:r>
              <a:rPr lang="en-US" sz="2800" b="1" spc="-40" dirty="0"/>
              <a:t> </a:t>
            </a:r>
            <a:r>
              <a:rPr lang="en-US" sz="2800" b="1" dirty="0"/>
              <a:t>in</a:t>
            </a:r>
            <a:r>
              <a:rPr lang="en-US" sz="2800" b="1" spc="-35" dirty="0"/>
              <a:t> </a:t>
            </a:r>
            <a:r>
              <a:rPr lang="en-US" sz="2800" b="1" dirty="0"/>
              <a:t>each</a:t>
            </a:r>
            <a:r>
              <a:rPr lang="en-US" sz="2800" b="1" spc="-40" dirty="0"/>
              <a:t> </a:t>
            </a:r>
            <a:r>
              <a:rPr lang="en-US" sz="2800" b="1" spc="-10" dirty="0"/>
              <a:t>category?</a:t>
            </a:r>
            <a:endParaRPr lang="en-IN" sz="2800" b="1" dirty="0"/>
          </a:p>
        </p:txBody>
      </p:sp>
      <p:pic>
        <p:nvPicPr>
          <p:cNvPr id="4" name="object 4">
            <a:extLst>
              <a:ext uri="{FF2B5EF4-FFF2-40B4-BE49-F238E27FC236}">
                <a16:creationId xmlns:a16="http://schemas.microsoft.com/office/drawing/2014/main" id="{6DADAB1E-82C0-EC5E-5497-265C8DEBAB3A}"/>
              </a:ext>
            </a:extLst>
          </p:cNvPr>
          <p:cNvPicPr/>
          <p:nvPr/>
        </p:nvPicPr>
        <p:blipFill>
          <a:blip r:embed="rId2" cstate="print"/>
          <a:stretch>
            <a:fillRect/>
          </a:stretch>
        </p:blipFill>
        <p:spPr>
          <a:xfrm>
            <a:off x="1081516" y="2417064"/>
            <a:ext cx="4434840" cy="1854708"/>
          </a:xfrm>
          <a:prstGeom prst="rect">
            <a:avLst/>
          </a:prstGeom>
        </p:spPr>
      </p:pic>
      <p:pic>
        <p:nvPicPr>
          <p:cNvPr id="5" name="object 5">
            <a:extLst>
              <a:ext uri="{FF2B5EF4-FFF2-40B4-BE49-F238E27FC236}">
                <a16:creationId xmlns:a16="http://schemas.microsoft.com/office/drawing/2014/main" id="{03A36889-ED0E-9EB8-DD61-FC0225CD0E86}"/>
              </a:ext>
            </a:extLst>
          </p:cNvPr>
          <p:cNvPicPr/>
          <p:nvPr/>
        </p:nvPicPr>
        <p:blipFill>
          <a:blip r:embed="rId3" cstate="print"/>
          <a:stretch>
            <a:fillRect/>
          </a:stretch>
        </p:blipFill>
        <p:spPr>
          <a:xfrm>
            <a:off x="6172199" y="3825240"/>
            <a:ext cx="4770120" cy="2179320"/>
          </a:xfrm>
          <a:prstGeom prst="rect">
            <a:avLst/>
          </a:prstGeom>
        </p:spPr>
      </p:pic>
      <p:pic>
        <p:nvPicPr>
          <p:cNvPr id="6" name="Picture 5">
            <a:extLst>
              <a:ext uri="{FF2B5EF4-FFF2-40B4-BE49-F238E27FC236}">
                <a16:creationId xmlns:a16="http://schemas.microsoft.com/office/drawing/2014/main" id="{ADD1DDCD-3E11-5134-B48D-891506883755}"/>
              </a:ext>
            </a:extLst>
          </p:cNvPr>
          <p:cNvPicPr>
            <a:picLocks noChangeAspect="1"/>
          </p:cNvPicPr>
          <p:nvPr/>
        </p:nvPicPr>
        <p:blipFill>
          <a:blip r:embed="rId4"/>
          <a:stretch>
            <a:fillRect/>
          </a:stretch>
        </p:blipFill>
        <p:spPr>
          <a:xfrm>
            <a:off x="87105" y="68826"/>
            <a:ext cx="3767140" cy="847337"/>
          </a:xfrm>
          <a:prstGeom prst="rect">
            <a:avLst/>
          </a:prstGeom>
        </p:spPr>
      </p:pic>
    </p:spTree>
    <p:extLst>
      <p:ext uri="{BB962C8B-B14F-4D97-AF65-F5344CB8AC3E}">
        <p14:creationId xmlns:p14="http://schemas.microsoft.com/office/powerpoint/2010/main" val="37969496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5D18477-20A6-9350-2CC4-4F0EB1A8CAC1}"/>
              </a:ext>
            </a:extLst>
          </p:cNvPr>
          <p:cNvSpPr txBox="1"/>
          <p:nvPr/>
        </p:nvSpPr>
        <p:spPr>
          <a:xfrm rot="10800000" flipV="1">
            <a:off x="2545080" y="837330"/>
            <a:ext cx="7863840" cy="954107"/>
          </a:xfrm>
          <a:prstGeom prst="rect">
            <a:avLst/>
          </a:prstGeom>
          <a:noFill/>
        </p:spPr>
        <p:txBody>
          <a:bodyPr wrap="square">
            <a:spAutoFit/>
          </a:bodyPr>
          <a:lstStyle/>
          <a:p>
            <a:pPr algn="ctr"/>
            <a:r>
              <a:rPr lang="en-US" sz="2800" b="1" dirty="0"/>
              <a:t>6.What</a:t>
            </a:r>
            <a:r>
              <a:rPr lang="en-US" sz="2800" b="1" spc="-35" dirty="0"/>
              <a:t> </a:t>
            </a:r>
            <a:r>
              <a:rPr lang="en-US" sz="2800" b="1" dirty="0"/>
              <a:t>is</a:t>
            </a:r>
            <a:r>
              <a:rPr lang="en-US" sz="2800" b="1" spc="-5" dirty="0"/>
              <a:t> </a:t>
            </a:r>
            <a:r>
              <a:rPr lang="en-US" sz="2800" b="1" dirty="0"/>
              <a:t>the</a:t>
            </a:r>
            <a:r>
              <a:rPr lang="en-US" sz="2800" b="1" spc="-20" dirty="0"/>
              <a:t> </a:t>
            </a:r>
            <a:r>
              <a:rPr lang="en-US" sz="2800" b="1" dirty="0"/>
              <a:t>average</a:t>
            </a:r>
            <a:r>
              <a:rPr lang="en-US" sz="2800" b="1" spc="-35" dirty="0"/>
              <a:t> </a:t>
            </a:r>
            <a:r>
              <a:rPr lang="en-US" sz="2800" b="1" dirty="0"/>
              <a:t>price</a:t>
            </a:r>
            <a:r>
              <a:rPr lang="en-US" sz="2800" b="1" spc="-20" dirty="0"/>
              <a:t> </a:t>
            </a:r>
            <a:r>
              <a:rPr lang="en-US" sz="2800" b="1" dirty="0"/>
              <a:t>of</a:t>
            </a:r>
            <a:r>
              <a:rPr lang="en-US" sz="2800" b="1" spc="-15" dirty="0"/>
              <a:t> </a:t>
            </a:r>
            <a:r>
              <a:rPr lang="en-US" sz="2800" b="1" dirty="0"/>
              <a:t>products</a:t>
            </a:r>
            <a:r>
              <a:rPr lang="en-US" sz="2800" b="1" spc="-35" dirty="0"/>
              <a:t> </a:t>
            </a:r>
            <a:r>
              <a:rPr lang="en-US" sz="2800" b="1" dirty="0"/>
              <a:t>by</a:t>
            </a:r>
            <a:r>
              <a:rPr lang="en-US" sz="2800" b="1" spc="-20" dirty="0"/>
              <a:t> </a:t>
            </a:r>
            <a:r>
              <a:rPr lang="en-US" sz="2800" b="1" spc="-10" dirty="0"/>
              <a:t>category?</a:t>
            </a:r>
            <a:endParaRPr lang="en-IN" sz="2800" b="1" dirty="0"/>
          </a:p>
        </p:txBody>
      </p:sp>
      <p:pic>
        <p:nvPicPr>
          <p:cNvPr id="4" name="object 4">
            <a:extLst>
              <a:ext uri="{FF2B5EF4-FFF2-40B4-BE49-F238E27FC236}">
                <a16:creationId xmlns:a16="http://schemas.microsoft.com/office/drawing/2014/main" id="{5E6277DA-E6CA-A9B0-B012-5C7A8081ABC7}"/>
              </a:ext>
            </a:extLst>
          </p:cNvPr>
          <p:cNvPicPr/>
          <p:nvPr/>
        </p:nvPicPr>
        <p:blipFill>
          <a:blip r:embed="rId2" cstate="print"/>
          <a:stretch>
            <a:fillRect/>
          </a:stretch>
        </p:blipFill>
        <p:spPr>
          <a:xfrm>
            <a:off x="1042415" y="1802891"/>
            <a:ext cx="4703065" cy="2037589"/>
          </a:xfrm>
          <a:prstGeom prst="rect">
            <a:avLst/>
          </a:prstGeom>
        </p:spPr>
      </p:pic>
      <p:pic>
        <p:nvPicPr>
          <p:cNvPr id="5" name="object 5">
            <a:extLst>
              <a:ext uri="{FF2B5EF4-FFF2-40B4-BE49-F238E27FC236}">
                <a16:creationId xmlns:a16="http://schemas.microsoft.com/office/drawing/2014/main" id="{C3517BA3-2CC5-B436-8762-3E57431860E0}"/>
              </a:ext>
            </a:extLst>
          </p:cNvPr>
          <p:cNvPicPr/>
          <p:nvPr/>
        </p:nvPicPr>
        <p:blipFill>
          <a:blip r:embed="rId3" cstate="print"/>
          <a:stretch>
            <a:fillRect/>
          </a:stretch>
        </p:blipFill>
        <p:spPr>
          <a:xfrm>
            <a:off x="6096001" y="3947161"/>
            <a:ext cx="5212080" cy="2133600"/>
          </a:xfrm>
          <a:prstGeom prst="rect">
            <a:avLst/>
          </a:prstGeom>
        </p:spPr>
      </p:pic>
      <p:pic>
        <p:nvPicPr>
          <p:cNvPr id="6" name="Picture 5">
            <a:extLst>
              <a:ext uri="{FF2B5EF4-FFF2-40B4-BE49-F238E27FC236}">
                <a16:creationId xmlns:a16="http://schemas.microsoft.com/office/drawing/2014/main" id="{DE9AB329-FF05-6DF7-5673-70058EFBCF95}"/>
              </a:ext>
            </a:extLst>
          </p:cNvPr>
          <p:cNvPicPr>
            <a:picLocks noChangeAspect="1"/>
          </p:cNvPicPr>
          <p:nvPr/>
        </p:nvPicPr>
        <p:blipFill>
          <a:blip r:embed="rId4"/>
          <a:stretch>
            <a:fillRect/>
          </a:stretch>
        </p:blipFill>
        <p:spPr>
          <a:xfrm>
            <a:off x="87105" y="68826"/>
            <a:ext cx="3767140" cy="847337"/>
          </a:xfrm>
          <a:prstGeom prst="rect">
            <a:avLst/>
          </a:prstGeom>
        </p:spPr>
      </p:pic>
    </p:spTree>
    <p:extLst>
      <p:ext uri="{BB962C8B-B14F-4D97-AF65-F5344CB8AC3E}">
        <p14:creationId xmlns:p14="http://schemas.microsoft.com/office/powerpoint/2010/main" val="27682507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B622B74-AF1A-CAE9-7804-26B3FE7B6402}"/>
              </a:ext>
            </a:extLst>
          </p:cNvPr>
          <p:cNvSpPr txBox="1"/>
          <p:nvPr/>
        </p:nvSpPr>
        <p:spPr>
          <a:xfrm>
            <a:off x="1158240" y="999917"/>
            <a:ext cx="10104120" cy="954107"/>
          </a:xfrm>
          <a:prstGeom prst="rect">
            <a:avLst/>
          </a:prstGeom>
          <a:noFill/>
        </p:spPr>
        <p:txBody>
          <a:bodyPr wrap="square">
            <a:spAutoFit/>
          </a:bodyPr>
          <a:lstStyle/>
          <a:p>
            <a:pPr algn="ctr"/>
            <a:r>
              <a:rPr lang="en-US" sz="2800" b="1" dirty="0"/>
              <a:t>7.Which</a:t>
            </a:r>
            <a:r>
              <a:rPr lang="en-US" sz="2800" b="1" spc="10" dirty="0"/>
              <a:t> </a:t>
            </a:r>
            <a:r>
              <a:rPr lang="en-US" sz="2800" b="1" dirty="0"/>
              <a:t>products</a:t>
            </a:r>
            <a:r>
              <a:rPr lang="en-US" sz="2800" b="1" spc="60" dirty="0"/>
              <a:t> </a:t>
            </a:r>
            <a:r>
              <a:rPr lang="en-US" sz="2800" b="1" dirty="0"/>
              <a:t>have</a:t>
            </a:r>
            <a:r>
              <a:rPr lang="en-US" sz="2800" b="1" spc="-10" dirty="0"/>
              <a:t> </a:t>
            </a:r>
            <a:r>
              <a:rPr lang="en-US" sz="2800" b="1" dirty="0"/>
              <a:t>the</a:t>
            </a:r>
            <a:r>
              <a:rPr lang="en-US" sz="2800" b="1" spc="-5" dirty="0"/>
              <a:t> </a:t>
            </a:r>
            <a:r>
              <a:rPr lang="en-US" sz="2800" b="1" dirty="0"/>
              <a:t>highest</a:t>
            </a:r>
            <a:r>
              <a:rPr lang="en-US" sz="2800" b="1" spc="65" dirty="0"/>
              <a:t> </a:t>
            </a:r>
            <a:r>
              <a:rPr lang="en-US" sz="2800" b="1" dirty="0"/>
              <a:t>total</a:t>
            </a:r>
            <a:r>
              <a:rPr lang="en-US" sz="2800" b="1" spc="-40" dirty="0"/>
              <a:t> </a:t>
            </a:r>
            <a:r>
              <a:rPr lang="en-US" sz="2800" b="1" dirty="0"/>
              <a:t>sales</a:t>
            </a:r>
            <a:r>
              <a:rPr lang="en-US" sz="2800" b="1" spc="-10" dirty="0"/>
              <a:t> </a:t>
            </a:r>
            <a:r>
              <a:rPr lang="en-US" sz="2800" b="1" dirty="0"/>
              <a:t>volume</a:t>
            </a:r>
            <a:r>
              <a:rPr lang="en-US" sz="2800" b="1" spc="10" dirty="0"/>
              <a:t> </a:t>
            </a:r>
            <a:r>
              <a:rPr lang="en-US" sz="2800" b="1" dirty="0"/>
              <a:t>(by </a:t>
            </a:r>
            <a:r>
              <a:rPr lang="en-US" sz="2800" b="1" spc="-10" dirty="0"/>
              <a:t>quantity)?</a:t>
            </a:r>
            <a:endParaRPr lang="en-IN" sz="2800" b="1" dirty="0"/>
          </a:p>
        </p:txBody>
      </p:sp>
      <p:pic>
        <p:nvPicPr>
          <p:cNvPr id="4" name="object 4">
            <a:extLst>
              <a:ext uri="{FF2B5EF4-FFF2-40B4-BE49-F238E27FC236}">
                <a16:creationId xmlns:a16="http://schemas.microsoft.com/office/drawing/2014/main" id="{BE4BEC91-AEFF-6235-55C2-580ADB568AC0}"/>
              </a:ext>
            </a:extLst>
          </p:cNvPr>
          <p:cNvPicPr/>
          <p:nvPr/>
        </p:nvPicPr>
        <p:blipFill>
          <a:blip r:embed="rId2" cstate="print"/>
          <a:stretch>
            <a:fillRect/>
          </a:stretch>
        </p:blipFill>
        <p:spPr>
          <a:xfrm>
            <a:off x="2575560" y="2037778"/>
            <a:ext cx="6705600" cy="2958087"/>
          </a:xfrm>
          <a:prstGeom prst="rect">
            <a:avLst/>
          </a:prstGeom>
        </p:spPr>
      </p:pic>
      <p:pic>
        <p:nvPicPr>
          <p:cNvPr id="5" name="object 5">
            <a:extLst>
              <a:ext uri="{FF2B5EF4-FFF2-40B4-BE49-F238E27FC236}">
                <a16:creationId xmlns:a16="http://schemas.microsoft.com/office/drawing/2014/main" id="{C703CE91-1622-E0A6-710C-CAAA66C560DC}"/>
              </a:ext>
            </a:extLst>
          </p:cNvPr>
          <p:cNvPicPr/>
          <p:nvPr/>
        </p:nvPicPr>
        <p:blipFill>
          <a:blip r:embed="rId3" cstate="print"/>
          <a:stretch>
            <a:fillRect/>
          </a:stretch>
        </p:blipFill>
        <p:spPr>
          <a:xfrm>
            <a:off x="2773680" y="5273040"/>
            <a:ext cx="5943600" cy="963245"/>
          </a:xfrm>
          <a:prstGeom prst="rect">
            <a:avLst/>
          </a:prstGeom>
        </p:spPr>
      </p:pic>
      <p:pic>
        <p:nvPicPr>
          <p:cNvPr id="6" name="Picture 5">
            <a:extLst>
              <a:ext uri="{FF2B5EF4-FFF2-40B4-BE49-F238E27FC236}">
                <a16:creationId xmlns:a16="http://schemas.microsoft.com/office/drawing/2014/main" id="{4BD05D68-69CB-85C5-8416-615A2265C9C7}"/>
              </a:ext>
            </a:extLst>
          </p:cNvPr>
          <p:cNvPicPr>
            <a:picLocks noChangeAspect="1"/>
          </p:cNvPicPr>
          <p:nvPr/>
        </p:nvPicPr>
        <p:blipFill>
          <a:blip r:embed="rId4"/>
          <a:stretch>
            <a:fillRect/>
          </a:stretch>
        </p:blipFill>
        <p:spPr>
          <a:xfrm>
            <a:off x="87105" y="68826"/>
            <a:ext cx="3767140" cy="847337"/>
          </a:xfrm>
          <a:prstGeom prst="rect">
            <a:avLst/>
          </a:prstGeom>
        </p:spPr>
      </p:pic>
    </p:spTree>
    <p:extLst>
      <p:ext uri="{BB962C8B-B14F-4D97-AF65-F5344CB8AC3E}">
        <p14:creationId xmlns:p14="http://schemas.microsoft.com/office/powerpoint/2010/main" val="9213005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25CAF2C-F05A-4EC3-7AEE-D219794F8302}"/>
              </a:ext>
            </a:extLst>
          </p:cNvPr>
          <p:cNvSpPr txBox="1"/>
          <p:nvPr/>
        </p:nvSpPr>
        <p:spPr>
          <a:xfrm>
            <a:off x="1143000" y="1095495"/>
            <a:ext cx="10332720" cy="523220"/>
          </a:xfrm>
          <a:prstGeom prst="rect">
            <a:avLst/>
          </a:prstGeom>
          <a:noFill/>
        </p:spPr>
        <p:txBody>
          <a:bodyPr wrap="square">
            <a:spAutoFit/>
          </a:bodyPr>
          <a:lstStyle/>
          <a:p>
            <a:pPr algn="ctr"/>
            <a:r>
              <a:rPr lang="en-US" sz="2800" b="1" dirty="0"/>
              <a:t>8.What</a:t>
            </a:r>
            <a:r>
              <a:rPr lang="en-US" sz="2800" b="1" spc="5" dirty="0"/>
              <a:t> </a:t>
            </a:r>
            <a:r>
              <a:rPr lang="en-US" sz="2800" b="1" dirty="0"/>
              <a:t>is</a:t>
            </a:r>
            <a:r>
              <a:rPr lang="en-US" sz="2800" b="1" spc="20" dirty="0"/>
              <a:t> </a:t>
            </a:r>
            <a:r>
              <a:rPr lang="en-US" sz="2800" b="1" dirty="0"/>
              <a:t>the</a:t>
            </a:r>
            <a:r>
              <a:rPr lang="en-US" sz="2800" b="1" spc="35" dirty="0"/>
              <a:t> </a:t>
            </a:r>
            <a:r>
              <a:rPr lang="en-US" sz="2800" b="1" dirty="0"/>
              <a:t>total</a:t>
            </a:r>
            <a:r>
              <a:rPr lang="en-US" sz="2800" b="1" spc="55" dirty="0"/>
              <a:t> </a:t>
            </a:r>
            <a:r>
              <a:rPr lang="en-US" sz="2800" b="1" dirty="0"/>
              <a:t>revenue</a:t>
            </a:r>
            <a:r>
              <a:rPr lang="en-US" sz="2800" b="1" spc="15" dirty="0"/>
              <a:t> </a:t>
            </a:r>
            <a:r>
              <a:rPr lang="en-US" sz="2800" b="1" dirty="0"/>
              <a:t>generated</a:t>
            </a:r>
            <a:r>
              <a:rPr lang="en-US" sz="2800" b="1" spc="15" dirty="0"/>
              <a:t> </a:t>
            </a:r>
            <a:r>
              <a:rPr lang="en-US" sz="2800" b="1" dirty="0"/>
              <a:t>by</a:t>
            </a:r>
            <a:r>
              <a:rPr lang="en-US" sz="2800" b="1" spc="30" dirty="0"/>
              <a:t> </a:t>
            </a:r>
            <a:r>
              <a:rPr lang="en-US" sz="2800" b="1" dirty="0"/>
              <a:t>each</a:t>
            </a:r>
            <a:r>
              <a:rPr lang="en-US" sz="2800" b="1" spc="20" dirty="0"/>
              <a:t> </a:t>
            </a:r>
            <a:r>
              <a:rPr lang="en-US" sz="2800" b="1" spc="-10" dirty="0"/>
              <a:t>product?</a:t>
            </a:r>
            <a:endParaRPr lang="en-IN" sz="2800" b="1" dirty="0"/>
          </a:p>
        </p:txBody>
      </p:sp>
      <p:pic>
        <p:nvPicPr>
          <p:cNvPr id="4" name="object 4">
            <a:extLst>
              <a:ext uri="{FF2B5EF4-FFF2-40B4-BE49-F238E27FC236}">
                <a16:creationId xmlns:a16="http://schemas.microsoft.com/office/drawing/2014/main" id="{90FFFFA2-4B3F-453D-D66A-7A1CCE2B04FA}"/>
              </a:ext>
            </a:extLst>
          </p:cNvPr>
          <p:cNvPicPr/>
          <p:nvPr/>
        </p:nvPicPr>
        <p:blipFill>
          <a:blip r:embed="rId2" cstate="print"/>
          <a:stretch>
            <a:fillRect/>
          </a:stretch>
        </p:blipFill>
        <p:spPr>
          <a:xfrm>
            <a:off x="1143000" y="2843784"/>
            <a:ext cx="4443985" cy="1972056"/>
          </a:xfrm>
          <a:prstGeom prst="rect">
            <a:avLst/>
          </a:prstGeom>
        </p:spPr>
      </p:pic>
      <p:pic>
        <p:nvPicPr>
          <p:cNvPr id="7" name="object 5">
            <a:extLst>
              <a:ext uri="{FF2B5EF4-FFF2-40B4-BE49-F238E27FC236}">
                <a16:creationId xmlns:a16="http://schemas.microsoft.com/office/drawing/2014/main" id="{AC5DA2D6-477E-2802-8FCB-B828B113DA02}"/>
              </a:ext>
            </a:extLst>
          </p:cNvPr>
          <p:cNvPicPr/>
          <p:nvPr/>
        </p:nvPicPr>
        <p:blipFill>
          <a:blip r:embed="rId3" cstate="print"/>
          <a:stretch>
            <a:fillRect/>
          </a:stretch>
        </p:blipFill>
        <p:spPr>
          <a:xfrm>
            <a:off x="7040880" y="1859281"/>
            <a:ext cx="3764280" cy="4480560"/>
          </a:xfrm>
          <a:prstGeom prst="rect">
            <a:avLst/>
          </a:prstGeom>
        </p:spPr>
      </p:pic>
      <p:pic>
        <p:nvPicPr>
          <p:cNvPr id="8" name="Picture 7">
            <a:extLst>
              <a:ext uri="{FF2B5EF4-FFF2-40B4-BE49-F238E27FC236}">
                <a16:creationId xmlns:a16="http://schemas.microsoft.com/office/drawing/2014/main" id="{D285ACBC-0ECA-E2AE-4DD6-4601C6F50606}"/>
              </a:ext>
            </a:extLst>
          </p:cNvPr>
          <p:cNvPicPr>
            <a:picLocks noChangeAspect="1"/>
          </p:cNvPicPr>
          <p:nvPr/>
        </p:nvPicPr>
        <p:blipFill>
          <a:blip r:embed="rId4"/>
          <a:stretch>
            <a:fillRect/>
          </a:stretch>
        </p:blipFill>
        <p:spPr>
          <a:xfrm>
            <a:off x="87105" y="68826"/>
            <a:ext cx="3767140" cy="847337"/>
          </a:xfrm>
          <a:prstGeom prst="rect">
            <a:avLst/>
          </a:prstGeom>
        </p:spPr>
      </p:pic>
    </p:spTree>
    <p:extLst>
      <p:ext uri="{BB962C8B-B14F-4D97-AF65-F5344CB8AC3E}">
        <p14:creationId xmlns:p14="http://schemas.microsoft.com/office/powerpoint/2010/main" val="1977651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A5C237F-EBD5-22BC-0335-1F73B4BC3261}"/>
              </a:ext>
            </a:extLst>
          </p:cNvPr>
          <p:cNvSpPr txBox="1"/>
          <p:nvPr/>
        </p:nvSpPr>
        <p:spPr>
          <a:xfrm>
            <a:off x="1584960" y="1004054"/>
            <a:ext cx="8793480" cy="523220"/>
          </a:xfrm>
          <a:prstGeom prst="rect">
            <a:avLst/>
          </a:prstGeom>
          <a:noFill/>
        </p:spPr>
        <p:txBody>
          <a:bodyPr wrap="square">
            <a:spAutoFit/>
          </a:bodyPr>
          <a:lstStyle/>
          <a:p>
            <a:pPr algn="ctr"/>
            <a:r>
              <a:rPr lang="en-US" sz="2800" b="1" dirty="0"/>
              <a:t>9.How</a:t>
            </a:r>
            <a:r>
              <a:rPr lang="en-US" sz="2800" b="1" spc="20" dirty="0"/>
              <a:t> </a:t>
            </a:r>
            <a:r>
              <a:rPr lang="en-US" sz="2800" b="1" dirty="0"/>
              <a:t>do</a:t>
            </a:r>
            <a:r>
              <a:rPr lang="en-US" sz="2800" b="1" spc="30" dirty="0"/>
              <a:t> </a:t>
            </a:r>
            <a:r>
              <a:rPr lang="en-US" sz="2800" b="1" dirty="0"/>
              <a:t>product</a:t>
            </a:r>
            <a:r>
              <a:rPr lang="en-US" sz="2800" b="1" spc="5" dirty="0"/>
              <a:t> </a:t>
            </a:r>
            <a:r>
              <a:rPr lang="en-US" sz="2800" b="1" dirty="0"/>
              <a:t>sales</a:t>
            </a:r>
            <a:r>
              <a:rPr lang="en-US" sz="2800" b="1" spc="15" dirty="0"/>
              <a:t> </a:t>
            </a:r>
            <a:r>
              <a:rPr lang="en-US" sz="2800" b="1" dirty="0"/>
              <a:t>vary</a:t>
            </a:r>
            <a:r>
              <a:rPr lang="en-US" sz="2800" b="1" spc="5" dirty="0"/>
              <a:t> </a:t>
            </a:r>
            <a:r>
              <a:rPr lang="en-US" sz="2800" b="1" dirty="0"/>
              <a:t>by</a:t>
            </a:r>
            <a:r>
              <a:rPr lang="en-US" sz="2800" b="1" spc="30" dirty="0"/>
              <a:t> </a:t>
            </a:r>
            <a:r>
              <a:rPr lang="en-US" sz="2800" b="1" dirty="0"/>
              <a:t>category</a:t>
            </a:r>
            <a:r>
              <a:rPr lang="en-US" sz="2800" b="1" spc="-5" dirty="0"/>
              <a:t> </a:t>
            </a:r>
            <a:r>
              <a:rPr lang="en-US" sz="2800" b="1" dirty="0"/>
              <a:t>and</a:t>
            </a:r>
            <a:r>
              <a:rPr lang="en-US" sz="2800" b="1" spc="30" dirty="0"/>
              <a:t> </a:t>
            </a:r>
            <a:r>
              <a:rPr lang="en-US" sz="2800" b="1" spc="-10" dirty="0"/>
              <a:t>supplier?</a:t>
            </a:r>
            <a:endParaRPr lang="en-IN" sz="2800" b="1" dirty="0"/>
          </a:p>
        </p:txBody>
      </p:sp>
      <p:pic>
        <p:nvPicPr>
          <p:cNvPr id="4" name="object 4">
            <a:extLst>
              <a:ext uri="{FF2B5EF4-FFF2-40B4-BE49-F238E27FC236}">
                <a16:creationId xmlns:a16="http://schemas.microsoft.com/office/drawing/2014/main" id="{2CFB5B0B-CE9D-67F3-7C8B-BC9BFA04ECF3}"/>
              </a:ext>
            </a:extLst>
          </p:cNvPr>
          <p:cNvPicPr/>
          <p:nvPr/>
        </p:nvPicPr>
        <p:blipFill>
          <a:blip r:embed="rId2" cstate="print"/>
          <a:stretch>
            <a:fillRect/>
          </a:stretch>
        </p:blipFill>
        <p:spPr>
          <a:xfrm>
            <a:off x="1188719" y="2271522"/>
            <a:ext cx="4754881" cy="2864358"/>
          </a:xfrm>
          <a:prstGeom prst="rect">
            <a:avLst/>
          </a:prstGeom>
        </p:spPr>
      </p:pic>
      <p:pic>
        <p:nvPicPr>
          <p:cNvPr id="5" name="object 8">
            <a:extLst>
              <a:ext uri="{FF2B5EF4-FFF2-40B4-BE49-F238E27FC236}">
                <a16:creationId xmlns:a16="http://schemas.microsoft.com/office/drawing/2014/main" id="{D2BE0EF5-275F-9B1A-7B13-030D4409CB79}"/>
              </a:ext>
            </a:extLst>
          </p:cNvPr>
          <p:cNvPicPr/>
          <p:nvPr/>
        </p:nvPicPr>
        <p:blipFill>
          <a:blip r:embed="rId3" cstate="print"/>
          <a:stretch>
            <a:fillRect/>
          </a:stretch>
        </p:blipFill>
        <p:spPr>
          <a:xfrm>
            <a:off x="7284720" y="1890522"/>
            <a:ext cx="3901440" cy="4192024"/>
          </a:xfrm>
          <a:prstGeom prst="rect">
            <a:avLst/>
          </a:prstGeom>
        </p:spPr>
      </p:pic>
      <p:pic>
        <p:nvPicPr>
          <p:cNvPr id="6" name="Picture 5">
            <a:extLst>
              <a:ext uri="{FF2B5EF4-FFF2-40B4-BE49-F238E27FC236}">
                <a16:creationId xmlns:a16="http://schemas.microsoft.com/office/drawing/2014/main" id="{D6086738-46AF-CD0A-8304-29773EB75F8C}"/>
              </a:ext>
            </a:extLst>
          </p:cNvPr>
          <p:cNvPicPr>
            <a:picLocks noChangeAspect="1"/>
          </p:cNvPicPr>
          <p:nvPr/>
        </p:nvPicPr>
        <p:blipFill>
          <a:blip r:embed="rId4"/>
          <a:stretch>
            <a:fillRect/>
          </a:stretch>
        </p:blipFill>
        <p:spPr>
          <a:xfrm>
            <a:off x="87105" y="68826"/>
            <a:ext cx="3767140" cy="847337"/>
          </a:xfrm>
          <a:prstGeom prst="rect">
            <a:avLst/>
          </a:prstGeom>
        </p:spPr>
      </p:pic>
    </p:spTree>
    <p:extLst>
      <p:ext uri="{BB962C8B-B14F-4D97-AF65-F5344CB8AC3E}">
        <p14:creationId xmlns:p14="http://schemas.microsoft.com/office/powerpoint/2010/main" val="19086215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9FDD684-675D-7EF6-3AFA-155AD8A5532C}"/>
              </a:ext>
            </a:extLst>
          </p:cNvPr>
          <p:cNvSpPr txBox="1"/>
          <p:nvPr/>
        </p:nvSpPr>
        <p:spPr>
          <a:xfrm>
            <a:off x="1554480" y="1141214"/>
            <a:ext cx="9326880" cy="523220"/>
          </a:xfrm>
          <a:prstGeom prst="rect">
            <a:avLst/>
          </a:prstGeom>
          <a:noFill/>
        </p:spPr>
        <p:txBody>
          <a:bodyPr wrap="square">
            <a:spAutoFit/>
          </a:bodyPr>
          <a:lstStyle/>
          <a:p>
            <a:pPr algn="ctr"/>
            <a:r>
              <a:rPr lang="en-US" sz="2800" b="1" dirty="0"/>
              <a:t>10.How</a:t>
            </a:r>
            <a:r>
              <a:rPr lang="en-US" sz="2800" b="1" spc="25" dirty="0"/>
              <a:t> </a:t>
            </a:r>
            <a:r>
              <a:rPr lang="en-US" sz="2800" b="1" dirty="0"/>
              <a:t>many orders</a:t>
            </a:r>
            <a:r>
              <a:rPr lang="en-US" sz="2800" b="1" spc="-10" dirty="0"/>
              <a:t> </a:t>
            </a:r>
            <a:r>
              <a:rPr lang="en-US" sz="2800" b="1" dirty="0"/>
              <a:t>have</a:t>
            </a:r>
            <a:r>
              <a:rPr lang="en-US" sz="2800" b="1" spc="20" dirty="0"/>
              <a:t> </a:t>
            </a:r>
            <a:r>
              <a:rPr lang="en-US" sz="2800" b="1" dirty="0"/>
              <a:t>been placed</a:t>
            </a:r>
            <a:r>
              <a:rPr lang="en-US" sz="2800" b="1" spc="5" dirty="0"/>
              <a:t> </a:t>
            </a:r>
            <a:r>
              <a:rPr lang="en-US" sz="2800" b="1" dirty="0"/>
              <a:t>in</a:t>
            </a:r>
            <a:r>
              <a:rPr lang="en-US" sz="2800" b="1" spc="15" dirty="0"/>
              <a:t> </a:t>
            </a:r>
            <a:r>
              <a:rPr lang="en-US" sz="2800" b="1" spc="-10" dirty="0"/>
              <a:t>total?</a:t>
            </a:r>
            <a:endParaRPr lang="en-IN" sz="2800" b="1" dirty="0"/>
          </a:p>
        </p:txBody>
      </p:sp>
      <p:pic>
        <p:nvPicPr>
          <p:cNvPr id="4" name="object 4">
            <a:extLst>
              <a:ext uri="{FF2B5EF4-FFF2-40B4-BE49-F238E27FC236}">
                <a16:creationId xmlns:a16="http://schemas.microsoft.com/office/drawing/2014/main" id="{CB8D2764-D310-7008-A9CA-7F13EE9EE1FA}"/>
              </a:ext>
            </a:extLst>
          </p:cNvPr>
          <p:cNvPicPr/>
          <p:nvPr/>
        </p:nvPicPr>
        <p:blipFill>
          <a:blip r:embed="rId2" cstate="print"/>
          <a:stretch>
            <a:fillRect/>
          </a:stretch>
        </p:blipFill>
        <p:spPr>
          <a:xfrm>
            <a:off x="1063751" y="2634996"/>
            <a:ext cx="3340609" cy="1588008"/>
          </a:xfrm>
          <a:prstGeom prst="rect">
            <a:avLst/>
          </a:prstGeom>
        </p:spPr>
      </p:pic>
      <p:pic>
        <p:nvPicPr>
          <p:cNvPr id="5" name="object 5">
            <a:extLst>
              <a:ext uri="{FF2B5EF4-FFF2-40B4-BE49-F238E27FC236}">
                <a16:creationId xmlns:a16="http://schemas.microsoft.com/office/drawing/2014/main" id="{8B3707DF-AD93-2D1E-23D2-D359AF6EB647}"/>
              </a:ext>
            </a:extLst>
          </p:cNvPr>
          <p:cNvPicPr/>
          <p:nvPr/>
        </p:nvPicPr>
        <p:blipFill>
          <a:blip r:embed="rId3" cstate="print"/>
          <a:stretch>
            <a:fillRect/>
          </a:stretch>
        </p:blipFill>
        <p:spPr>
          <a:xfrm>
            <a:off x="6675120" y="4057412"/>
            <a:ext cx="3340609" cy="1659374"/>
          </a:xfrm>
          <a:prstGeom prst="rect">
            <a:avLst/>
          </a:prstGeom>
        </p:spPr>
      </p:pic>
      <p:pic>
        <p:nvPicPr>
          <p:cNvPr id="6" name="Picture 5">
            <a:extLst>
              <a:ext uri="{FF2B5EF4-FFF2-40B4-BE49-F238E27FC236}">
                <a16:creationId xmlns:a16="http://schemas.microsoft.com/office/drawing/2014/main" id="{31A3886C-8779-E874-0B15-328CE2CEB395}"/>
              </a:ext>
            </a:extLst>
          </p:cNvPr>
          <p:cNvPicPr>
            <a:picLocks noChangeAspect="1"/>
          </p:cNvPicPr>
          <p:nvPr/>
        </p:nvPicPr>
        <p:blipFill>
          <a:blip r:embed="rId4"/>
          <a:stretch>
            <a:fillRect/>
          </a:stretch>
        </p:blipFill>
        <p:spPr>
          <a:xfrm>
            <a:off x="87105" y="68826"/>
            <a:ext cx="3767140" cy="847337"/>
          </a:xfrm>
          <a:prstGeom prst="rect">
            <a:avLst/>
          </a:prstGeom>
        </p:spPr>
      </p:pic>
    </p:spTree>
    <p:extLst>
      <p:ext uri="{BB962C8B-B14F-4D97-AF65-F5344CB8AC3E}">
        <p14:creationId xmlns:p14="http://schemas.microsoft.com/office/powerpoint/2010/main" val="12014617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AACAE35-835B-0F7B-F423-0E61DBC3299A}"/>
              </a:ext>
            </a:extLst>
          </p:cNvPr>
          <p:cNvSpPr txBox="1"/>
          <p:nvPr/>
        </p:nvSpPr>
        <p:spPr>
          <a:xfrm>
            <a:off x="2118360" y="927854"/>
            <a:ext cx="7574280" cy="523220"/>
          </a:xfrm>
          <a:prstGeom prst="rect">
            <a:avLst/>
          </a:prstGeom>
          <a:noFill/>
        </p:spPr>
        <p:txBody>
          <a:bodyPr wrap="square">
            <a:spAutoFit/>
          </a:bodyPr>
          <a:lstStyle/>
          <a:p>
            <a:pPr algn="ctr"/>
            <a:r>
              <a:rPr lang="en-US" sz="2800" b="1" dirty="0"/>
              <a:t>11.What</a:t>
            </a:r>
            <a:r>
              <a:rPr lang="en-US" sz="2800" b="1" spc="-5" dirty="0"/>
              <a:t> </a:t>
            </a:r>
            <a:r>
              <a:rPr lang="en-US" sz="2800" b="1" dirty="0"/>
              <a:t>is</a:t>
            </a:r>
            <a:r>
              <a:rPr lang="en-US" sz="2800" b="1" spc="25" dirty="0"/>
              <a:t> </a:t>
            </a:r>
            <a:r>
              <a:rPr lang="en-US" sz="2800" b="1" dirty="0"/>
              <a:t>the</a:t>
            </a:r>
            <a:r>
              <a:rPr lang="en-US" sz="2800" b="1" spc="-55" dirty="0"/>
              <a:t> </a:t>
            </a:r>
            <a:r>
              <a:rPr lang="en-US" sz="2800" b="1" dirty="0"/>
              <a:t>average</a:t>
            </a:r>
            <a:r>
              <a:rPr lang="en-US" sz="2800" b="1" spc="-65" dirty="0"/>
              <a:t> </a:t>
            </a:r>
            <a:r>
              <a:rPr lang="en-US" sz="2800" b="1" dirty="0"/>
              <a:t>value</a:t>
            </a:r>
            <a:r>
              <a:rPr lang="en-US" sz="2800" b="1" spc="-45" dirty="0"/>
              <a:t> </a:t>
            </a:r>
            <a:r>
              <a:rPr lang="en-US" sz="2800" b="1" dirty="0"/>
              <a:t>per</a:t>
            </a:r>
            <a:r>
              <a:rPr lang="en-US" sz="2800" b="1" spc="-114" dirty="0"/>
              <a:t> </a:t>
            </a:r>
            <a:r>
              <a:rPr lang="en-US" sz="2800" b="1" spc="-10" dirty="0"/>
              <a:t>order?</a:t>
            </a:r>
            <a:endParaRPr lang="en-IN" sz="2800" b="1" dirty="0"/>
          </a:p>
        </p:txBody>
      </p:sp>
      <p:pic>
        <p:nvPicPr>
          <p:cNvPr id="4" name="object 4">
            <a:extLst>
              <a:ext uri="{FF2B5EF4-FFF2-40B4-BE49-F238E27FC236}">
                <a16:creationId xmlns:a16="http://schemas.microsoft.com/office/drawing/2014/main" id="{9328EA21-A872-EC54-6B8C-1CA02B66AE70}"/>
              </a:ext>
            </a:extLst>
          </p:cNvPr>
          <p:cNvPicPr/>
          <p:nvPr/>
        </p:nvPicPr>
        <p:blipFill>
          <a:blip r:embed="rId2" cstate="print"/>
          <a:stretch>
            <a:fillRect/>
          </a:stretch>
        </p:blipFill>
        <p:spPr>
          <a:xfrm>
            <a:off x="1584960" y="2179320"/>
            <a:ext cx="5638799" cy="1478279"/>
          </a:xfrm>
          <a:prstGeom prst="rect">
            <a:avLst/>
          </a:prstGeom>
        </p:spPr>
      </p:pic>
      <p:pic>
        <p:nvPicPr>
          <p:cNvPr id="5" name="object 5">
            <a:extLst>
              <a:ext uri="{FF2B5EF4-FFF2-40B4-BE49-F238E27FC236}">
                <a16:creationId xmlns:a16="http://schemas.microsoft.com/office/drawing/2014/main" id="{B67646BA-A90D-AB9C-3659-DCD185585AEA}"/>
              </a:ext>
            </a:extLst>
          </p:cNvPr>
          <p:cNvPicPr/>
          <p:nvPr/>
        </p:nvPicPr>
        <p:blipFill>
          <a:blip r:embed="rId3" cstate="print"/>
          <a:stretch>
            <a:fillRect/>
          </a:stretch>
        </p:blipFill>
        <p:spPr>
          <a:xfrm>
            <a:off x="6797040" y="4385845"/>
            <a:ext cx="4053840" cy="1718845"/>
          </a:xfrm>
          <a:prstGeom prst="rect">
            <a:avLst/>
          </a:prstGeom>
        </p:spPr>
      </p:pic>
      <p:pic>
        <p:nvPicPr>
          <p:cNvPr id="6" name="Picture 5">
            <a:extLst>
              <a:ext uri="{FF2B5EF4-FFF2-40B4-BE49-F238E27FC236}">
                <a16:creationId xmlns:a16="http://schemas.microsoft.com/office/drawing/2014/main" id="{AEFC8DA6-A323-0D48-E836-E1055386FF67}"/>
              </a:ext>
            </a:extLst>
          </p:cNvPr>
          <p:cNvPicPr>
            <a:picLocks noChangeAspect="1"/>
          </p:cNvPicPr>
          <p:nvPr/>
        </p:nvPicPr>
        <p:blipFill>
          <a:blip r:embed="rId4"/>
          <a:stretch>
            <a:fillRect/>
          </a:stretch>
        </p:blipFill>
        <p:spPr>
          <a:xfrm>
            <a:off x="87105" y="68826"/>
            <a:ext cx="3767140" cy="847337"/>
          </a:xfrm>
          <a:prstGeom prst="rect">
            <a:avLst/>
          </a:prstGeom>
        </p:spPr>
      </p:pic>
    </p:spTree>
    <p:extLst>
      <p:ext uri="{BB962C8B-B14F-4D97-AF65-F5344CB8AC3E}">
        <p14:creationId xmlns:p14="http://schemas.microsoft.com/office/powerpoint/2010/main" val="30792231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3D6E000-C1FD-A4AA-C800-8EFE64B791A7}"/>
              </a:ext>
            </a:extLst>
          </p:cNvPr>
          <p:cNvSpPr txBox="1"/>
          <p:nvPr/>
        </p:nvSpPr>
        <p:spPr>
          <a:xfrm>
            <a:off x="1584960" y="972476"/>
            <a:ext cx="9357360" cy="523220"/>
          </a:xfrm>
          <a:prstGeom prst="rect">
            <a:avLst/>
          </a:prstGeom>
          <a:noFill/>
        </p:spPr>
        <p:txBody>
          <a:bodyPr wrap="square">
            <a:spAutoFit/>
          </a:bodyPr>
          <a:lstStyle/>
          <a:p>
            <a:pPr algn="ctr"/>
            <a:r>
              <a:rPr lang="en-US" sz="2800" b="1" dirty="0"/>
              <a:t>12.On</a:t>
            </a:r>
            <a:r>
              <a:rPr lang="en-US" sz="2800" b="1" spc="25" dirty="0"/>
              <a:t> </a:t>
            </a:r>
            <a:r>
              <a:rPr lang="en-US" sz="2800" b="1" dirty="0"/>
              <a:t>which</a:t>
            </a:r>
            <a:r>
              <a:rPr lang="en-US" sz="2800" b="1" spc="25" dirty="0"/>
              <a:t> </a:t>
            </a:r>
            <a:r>
              <a:rPr lang="en-US" sz="2800" b="1" dirty="0"/>
              <a:t>dates</a:t>
            </a:r>
            <a:r>
              <a:rPr lang="en-US" sz="2800" b="1" spc="5" dirty="0"/>
              <a:t> </a:t>
            </a:r>
            <a:r>
              <a:rPr lang="en-US" sz="2800" b="1" dirty="0"/>
              <a:t>were</a:t>
            </a:r>
            <a:r>
              <a:rPr lang="en-US" sz="2800" b="1" spc="15" dirty="0"/>
              <a:t> </a:t>
            </a:r>
            <a:r>
              <a:rPr lang="en-US" sz="2800" b="1" dirty="0"/>
              <a:t>the</a:t>
            </a:r>
            <a:r>
              <a:rPr lang="en-US" sz="2800" b="1" spc="10" dirty="0"/>
              <a:t> </a:t>
            </a:r>
            <a:r>
              <a:rPr lang="en-US" sz="2800" b="1" dirty="0"/>
              <a:t>most</a:t>
            </a:r>
            <a:r>
              <a:rPr lang="en-US" sz="2800" b="1" spc="15" dirty="0"/>
              <a:t> </a:t>
            </a:r>
            <a:r>
              <a:rPr lang="en-US" sz="2800" b="1" dirty="0"/>
              <a:t>orders</a:t>
            </a:r>
            <a:r>
              <a:rPr lang="en-US" sz="2800" b="1" spc="5" dirty="0"/>
              <a:t> </a:t>
            </a:r>
            <a:r>
              <a:rPr lang="en-US" sz="2800" b="1" spc="-10" dirty="0"/>
              <a:t>placed?</a:t>
            </a:r>
            <a:endParaRPr lang="en-IN" sz="2800" b="1" dirty="0"/>
          </a:p>
        </p:txBody>
      </p:sp>
      <p:pic>
        <p:nvPicPr>
          <p:cNvPr id="4" name="object 4">
            <a:extLst>
              <a:ext uri="{FF2B5EF4-FFF2-40B4-BE49-F238E27FC236}">
                <a16:creationId xmlns:a16="http://schemas.microsoft.com/office/drawing/2014/main" id="{C4F20CA8-3FDB-F529-B785-8949B633C237}"/>
              </a:ext>
            </a:extLst>
          </p:cNvPr>
          <p:cNvPicPr/>
          <p:nvPr/>
        </p:nvPicPr>
        <p:blipFill>
          <a:blip r:embed="rId2" cstate="print"/>
          <a:stretch>
            <a:fillRect/>
          </a:stretch>
        </p:blipFill>
        <p:spPr>
          <a:xfrm>
            <a:off x="1363980" y="2019413"/>
            <a:ext cx="4732020" cy="1892808"/>
          </a:xfrm>
          <a:prstGeom prst="rect">
            <a:avLst/>
          </a:prstGeom>
        </p:spPr>
      </p:pic>
      <p:pic>
        <p:nvPicPr>
          <p:cNvPr id="5" name="object 5">
            <a:extLst>
              <a:ext uri="{FF2B5EF4-FFF2-40B4-BE49-F238E27FC236}">
                <a16:creationId xmlns:a16="http://schemas.microsoft.com/office/drawing/2014/main" id="{D060B1BE-CBEE-631C-0BAA-0A4484236887}"/>
              </a:ext>
            </a:extLst>
          </p:cNvPr>
          <p:cNvPicPr/>
          <p:nvPr/>
        </p:nvPicPr>
        <p:blipFill>
          <a:blip r:embed="rId3" cstate="print"/>
          <a:stretch>
            <a:fillRect/>
          </a:stretch>
        </p:blipFill>
        <p:spPr>
          <a:xfrm>
            <a:off x="6096000" y="4632960"/>
            <a:ext cx="3886200" cy="1175266"/>
          </a:xfrm>
          <a:prstGeom prst="rect">
            <a:avLst/>
          </a:prstGeom>
        </p:spPr>
      </p:pic>
      <p:pic>
        <p:nvPicPr>
          <p:cNvPr id="6" name="Picture 5">
            <a:extLst>
              <a:ext uri="{FF2B5EF4-FFF2-40B4-BE49-F238E27FC236}">
                <a16:creationId xmlns:a16="http://schemas.microsoft.com/office/drawing/2014/main" id="{F6593730-A7F0-7222-A787-80B57460607D}"/>
              </a:ext>
            </a:extLst>
          </p:cNvPr>
          <p:cNvPicPr>
            <a:picLocks noChangeAspect="1"/>
          </p:cNvPicPr>
          <p:nvPr/>
        </p:nvPicPr>
        <p:blipFill>
          <a:blip r:embed="rId4"/>
          <a:stretch>
            <a:fillRect/>
          </a:stretch>
        </p:blipFill>
        <p:spPr>
          <a:xfrm>
            <a:off x="87105" y="68826"/>
            <a:ext cx="3767140" cy="847337"/>
          </a:xfrm>
          <a:prstGeom prst="rect">
            <a:avLst/>
          </a:prstGeom>
        </p:spPr>
      </p:pic>
    </p:spTree>
    <p:extLst>
      <p:ext uri="{BB962C8B-B14F-4D97-AF65-F5344CB8AC3E}">
        <p14:creationId xmlns:p14="http://schemas.microsoft.com/office/powerpoint/2010/main" val="21624771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9DB174B-3908-CFA7-4689-A8C14FB7D37A}"/>
              </a:ext>
            </a:extLst>
          </p:cNvPr>
          <p:cNvSpPr txBox="1"/>
          <p:nvPr/>
        </p:nvSpPr>
        <p:spPr>
          <a:xfrm>
            <a:off x="1615440" y="1119747"/>
            <a:ext cx="8412480" cy="954107"/>
          </a:xfrm>
          <a:prstGeom prst="rect">
            <a:avLst/>
          </a:prstGeom>
          <a:noFill/>
        </p:spPr>
        <p:txBody>
          <a:bodyPr wrap="square">
            <a:spAutoFit/>
          </a:bodyPr>
          <a:lstStyle/>
          <a:p>
            <a:pPr algn="ctr"/>
            <a:r>
              <a:rPr lang="en-US" sz="2800" b="1" dirty="0"/>
              <a:t>13.What</a:t>
            </a:r>
            <a:r>
              <a:rPr lang="en-US" sz="2800" b="1" spc="40" dirty="0"/>
              <a:t> </a:t>
            </a:r>
            <a:r>
              <a:rPr lang="en-US" sz="2800" b="1" dirty="0"/>
              <a:t>are</a:t>
            </a:r>
            <a:r>
              <a:rPr lang="en-US" sz="2800" b="1" spc="-10" dirty="0"/>
              <a:t> </a:t>
            </a:r>
            <a:r>
              <a:rPr lang="en-US" sz="2800" b="1" dirty="0"/>
              <a:t>the</a:t>
            </a:r>
            <a:r>
              <a:rPr lang="en-US" sz="2800" b="1" spc="-5" dirty="0"/>
              <a:t> </a:t>
            </a:r>
            <a:r>
              <a:rPr lang="en-US" sz="2800" b="1" dirty="0"/>
              <a:t>monthly</a:t>
            </a:r>
            <a:r>
              <a:rPr lang="en-US" sz="2800" b="1" spc="-5" dirty="0"/>
              <a:t> </a:t>
            </a:r>
            <a:r>
              <a:rPr lang="en-US" sz="2800" b="1" dirty="0"/>
              <a:t>trends</a:t>
            </a:r>
            <a:r>
              <a:rPr lang="en-US" sz="2800" b="1" spc="-10" dirty="0"/>
              <a:t> </a:t>
            </a:r>
            <a:r>
              <a:rPr lang="en-US" sz="2800" b="1" dirty="0"/>
              <a:t>in</a:t>
            </a:r>
            <a:r>
              <a:rPr lang="en-US" sz="2800" b="1" spc="15" dirty="0"/>
              <a:t> </a:t>
            </a:r>
            <a:r>
              <a:rPr lang="en-US" sz="2800" b="1" dirty="0"/>
              <a:t>order</a:t>
            </a:r>
            <a:r>
              <a:rPr lang="en-US" sz="2800" b="1" spc="-95" dirty="0"/>
              <a:t> </a:t>
            </a:r>
            <a:r>
              <a:rPr lang="en-US" sz="2800" b="1" dirty="0"/>
              <a:t>volume</a:t>
            </a:r>
            <a:r>
              <a:rPr lang="en-US" sz="2800" b="1" spc="5" dirty="0"/>
              <a:t> </a:t>
            </a:r>
            <a:r>
              <a:rPr lang="en-US" sz="2800" b="1" dirty="0"/>
              <a:t>and</a:t>
            </a:r>
            <a:r>
              <a:rPr lang="en-US" sz="2800" b="1" spc="10" dirty="0"/>
              <a:t> </a:t>
            </a:r>
            <a:r>
              <a:rPr lang="en-US" sz="2800" b="1" spc="-10" dirty="0"/>
              <a:t>revenue?</a:t>
            </a:r>
            <a:endParaRPr lang="en-IN" sz="2800" b="1" dirty="0"/>
          </a:p>
        </p:txBody>
      </p:sp>
      <p:pic>
        <p:nvPicPr>
          <p:cNvPr id="4" name="object 4">
            <a:extLst>
              <a:ext uri="{FF2B5EF4-FFF2-40B4-BE49-F238E27FC236}">
                <a16:creationId xmlns:a16="http://schemas.microsoft.com/office/drawing/2014/main" id="{216D08DC-5761-3C6D-74CB-69EFE1D15366}"/>
              </a:ext>
            </a:extLst>
          </p:cNvPr>
          <p:cNvPicPr/>
          <p:nvPr/>
        </p:nvPicPr>
        <p:blipFill>
          <a:blip r:embed="rId2" cstate="print"/>
          <a:stretch>
            <a:fillRect/>
          </a:stretch>
        </p:blipFill>
        <p:spPr>
          <a:xfrm>
            <a:off x="1615440" y="2953692"/>
            <a:ext cx="4831080" cy="2486988"/>
          </a:xfrm>
          <a:prstGeom prst="rect">
            <a:avLst/>
          </a:prstGeom>
        </p:spPr>
      </p:pic>
      <p:pic>
        <p:nvPicPr>
          <p:cNvPr id="5" name="object 5">
            <a:extLst>
              <a:ext uri="{FF2B5EF4-FFF2-40B4-BE49-F238E27FC236}">
                <a16:creationId xmlns:a16="http://schemas.microsoft.com/office/drawing/2014/main" id="{037AEC9A-FF2C-BF94-C472-7191504DAD50}"/>
              </a:ext>
            </a:extLst>
          </p:cNvPr>
          <p:cNvPicPr/>
          <p:nvPr/>
        </p:nvPicPr>
        <p:blipFill>
          <a:blip r:embed="rId3" cstate="print"/>
          <a:stretch>
            <a:fillRect/>
          </a:stretch>
        </p:blipFill>
        <p:spPr>
          <a:xfrm>
            <a:off x="7696199" y="2051173"/>
            <a:ext cx="3186683" cy="4292025"/>
          </a:xfrm>
          <a:prstGeom prst="rect">
            <a:avLst/>
          </a:prstGeom>
        </p:spPr>
      </p:pic>
      <p:pic>
        <p:nvPicPr>
          <p:cNvPr id="6" name="Picture 5">
            <a:extLst>
              <a:ext uri="{FF2B5EF4-FFF2-40B4-BE49-F238E27FC236}">
                <a16:creationId xmlns:a16="http://schemas.microsoft.com/office/drawing/2014/main" id="{B3886066-ADA5-7120-2E8E-8B49457B9DD2}"/>
              </a:ext>
            </a:extLst>
          </p:cNvPr>
          <p:cNvPicPr>
            <a:picLocks noChangeAspect="1"/>
          </p:cNvPicPr>
          <p:nvPr/>
        </p:nvPicPr>
        <p:blipFill>
          <a:blip r:embed="rId4"/>
          <a:stretch>
            <a:fillRect/>
          </a:stretch>
        </p:blipFill>
        <p:spPr>
          <a:xfrm>
            <a:off x="87105" y="68826"/>
            <a:ext cx="3767140" cy="847337"/>
          </a:xfrm>
          <a:prstGeom prst="rect">
            <a:avLst/>
          </a:prstGeom>
        </p:spPr>
      </p:pic>
    </p:spTree>
    <p:extLst>
      <p:ext uri="{BB962C8B-B14F-4D97-AF65-F5344CB8AC3E}">
        <p14:creationId xmlns:p14="http://schemas.microsoft.com/office/powerpoint/2010/main" val="840473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C09A447-076C-A126-EFA7-0BB96D4562CD}"/>
              </a:ext>
            </a:extLst>
          </p:cNvPr>
          <p:cNvSpPr txBox="1"/>
          <p:nvPr/>
        </p:nvSpPr>
        <p:spPr>
          <a:xfrm>
            <a:off x="1676400" y="1041974"/>
            <a:ext cx="8839200" cy="954107"/>
          </a:xfrm>
          <a:prstGeom prst="rect">
            <a:avLst/>
          </a:prstGeom>
          <a:noFill/>
        </p:spPr>
        <p:txBody>
          <a:bodyPr wrap="square">
            <a:spAutoFit/>
          </a:bodyPr>
          <a:lstStyle/>
          <a:p>
            <a:pPr algn="ctr"/>
            <a:r>
              <a:rPr lang="en-US" sz="2800" b="1" dirty="0"/>
              <a:t>14.How</a:t>
            </a:r>
            <a:r>
              <a:rPr lang="en-US" sz="2800" b="1" spc="10" dirty="0"/>
              <a:t> </a:t>
            </a:r>
            <a:r>
              <a:rPr lang="en-US" sz="2800" b="1" dirty="0"/>
              <a:t>do</a:t>
            </a:r>
            <a:r>
              <a:rPr lang="en-US" sz="2800" b="1" spc="-5" dirty="0"/>
              <a:t> </a:t>
            </a:r>
            <a:r>
              <a:rPr lang="en-US" sz="2800" b="1" dirty="0"/>
              <a:t>order</a:t>
            </a:r>
            <a:r>
              <a:rPr lang="en-US" sz="2800" b="1" spc="-65" dirty="0"/>
              <a:t> </a:t>
            </a:r>
            <a:r>
              <a:rPr lang="en-US" sz="2800" b="1" dirty="0"/>
              <a:t>patterns</a:t>
            </a:r>
            <a:r>
              <a:rPr lang="en-US" sz="2800" b="1" spc="-20" dirty="0"/>
              <a:t> </a:t>
            </a:r>
            <a:r>
              <a:rPr lang="en-US" sz="2800" b="1" dirty="0"/>
              <a:t>vary</a:t>
            </a:r>
            <a:r>
              <a:rPr lang="en-US" sz="2800" b="1" spc="10" dirty="0"/>
              <a:t> </a:t>
            </a:r>
            <a:r>
              <a:rPr lang="en-US" sz="2800" b="1" dirty="0"/>
              <a:t>across</a:t>
            </a:r>
            <a:r>
              <a:rPr lang="en-US" sz="2800" b="1" spc="-5" dirty="0"/>
              <a:t> </a:t>
            </a:r>
            <a:r>
              <a:rPr lang="en-US" sz="2800" b="1" dirty="0"/>
              <a:t>weekdays</a:t>
            </a:r>
            <a:r>
              <a:rPr lang="en-US" sz="2800" b="1" spc="75" dirty="0"/>
              <a:t> </a:t>
            </a:r>
            <a:r>
              <a:rPr lang="en-US" sz="2800" b="1" dirty="0"/>
              <a:t>and</a:t>
            </a:r>
            <a:r>
              <a:rPr lang="en-US" sz="2800" b="1" spc="10" dirty="0"/>
              <a:t> </a:t>
            </a:r>
            <a:r>
              <a:rPr lang="en-US" sz="2800" b="1" spc="-10" dirty="0"/>
              <a:t>months?</a:t>
            </a:r>
            <a:endParaRPr lang="en-IN" sz="2800" b="1" dirty="0"/>
          </a:p>
        </p:txBody>
      </p:sp>
      <p:pic>
        <p:nvPicPr>
          <p:cNvPr id="4" name="object 4">
            <a:extLst>
              <a:ext uri="{FF2B5EF4-FFF2-40B4-BE49-F238E27FC236}">
                <a16:creationId xmlns:a16="http://schemas.microsoft.com/office/drawing/2014/main" id="{A1FC1E9A-4455-C796-5F67-B535A6B682A6}"/>
              </a:ext>
            </a:extLst>
          </p:cNvPr>
          <p:cNvPicPr/>
          <p:nvPr/>
        </p:nvPicPr>
        <p:blipFill>
          <a:blip r:embed="rId2" cstate="print"/>
          <a:stretch>
            <a:fillRect/>
          </a:stretch>
        </p:blipFill>
        <p:spPr>
          <a:xfrm>
            <a:off x="807720" y="2406396"/>
            <a:ext cx="4831080" cy="3125723"/>
          </a:xfrm>
          <a:prstGeom prst="rect">
            <a:avLst/>
          </a:prstGeom>
        </p:spPr>
      </p:pic>
      <p:pic>
        <p:nvPicPr>
          <p:cNvPr id="5" name="Picture 4">
            <a:extLst>
              <a:ext uri="{FF2B5EF4-FFF2-40B4-BE49-F238E27FC236}">
                <a16:creationId xmlns:a16="http://schemas.microsoft.com/office/drawing/2014/main" id="{32484363-3040-337A-190D-95EB39A871A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69480" y="2064840"/>
            <a:ext cx="3526347" cy="4244520"/>
          </a:xfrm>
          <a:prstGeom prst="rect">
            <a:avLst/>
          </a:prstGeom>
        </p:spPr>
      </p:pic>
      <p:pic>
        <p:nvPicPr>
          <p:cNvPr id="6" name="Picture 5">
            <a:extLst>
              <a:ext uri="{FF2B5EF4-FFF2-40B4-BE49-F238E27FC236}">
                <a16:creationId xmlns:a16="http://schemas.microsoft.com/office/drawing/2014/main" id="{59719131-DB1E-0617-79F8-42C1D42EB6DA}"/>
              </a:ext>
            </a:extLst>
          </p:cNvPr>
          <p:cNvPicPr>
            <a:picLocks noChangeAspect="1"/>
          </p:cNvPicPr>
          <p:nvPr/>
        </p:nvPicPr>
        <p:blipFill>
          <a:blip r:embed="rId4"/>
          <a:stretch>
            <a:fillRect/>
          </a:stretch>
        </p:blipFill>
        <p:spPr>
          <a:xfrm>
            <a:off x="87105" y="68826"/>
            <a:ext cx="3767140" cy="847337"/>
          </a:xfrm>
          <a:prstGeom prst="rect">
            <a:avLst/>
          </a:prstGeom>
        </p:spPr>
      </p:pic>
    </p:spTree>
    <p:extLst>
      <p:ext uri="{BB962C8B-B14F-4D97-AF65-F5344CB8AC3E}">
        <p14:creationId xmlns:p14="http://schemas.microsoft.com/office/powerpoint/2010/main" val="152894776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39D21DF-7D13-5B02-9399-F1F64B2FDC78}"/>
              </a:ext>
            </a:extLst>
          </p:cNvPr>
          <p:cNvSpPr txBox="1"/>
          <p:nvPr/>
        </p:nvSpPr>
        <p:spPr>
          <a:xfrm>
            <a:off x="1409700" y="1199019"/>
            <a:ext cx="9372600" cy="523220"/>
          </a:xfrm>
          <a:prstGeom prst="rect">
            <a:avLst/>
          </a:prstGeom>
          <a:noFill/>
        </p:spPr>
        <p:txBody>
          <a:bodyPr wrap="square">
            <a:spAutoFit/>
          </a:bodyPr>
          <a:lstStyle/>
          <a:p>
            <a:pPr algn="ctr"/>
            <a:r>
              <a:rPr lang="en-US" sz="2800" b="1" dirty="0"/>
              <a:t>15.How</a:t>
            </a:r>
            <a:r>
              <a:rPr lang="en-US" sz="2800" b="1" spc="-20" dirty="0"/>
              <a:t> </a:t>
            </a:r>
            <a:r>
              <a:rPr lang="en-US" sz="2800" b="1" dirty="0"/>
              <a:t>many</a:t>
            </a:r>
            <a:r>
              <a:rPr lang="en-US" sz="2800" b="1" spc="-25" dirty="0"/>
              <a:t> </a:t>
            </a:r>
            <a:r>
              <a:rPr lang="en-US" sz="2800" b="1" dirty="0"/>
              <a:t>suppliers</a:t>
            </a:r>
            <a:r>
              <a:rPr lang="en-US" sz="2800" b="1" spc="65" dirty="0"/>
              <a:t> </a:t>
            </a:r>
            <a:r>
              <a:rPr lang="en-US" sz="2800" b="1" dirty="0"/>
              <a:t>are</a:t>
            </a:r>
            <a:r>
              <a:rPr lang="en-US" sz="2800" b="1" spc="-30" dirty="0"/>
              <a:t> </a:t>
            </a:r>
            <a:r>
              <a:rPr lang="en-US" sz="2800" b="1" dirty="0"/>
              <a:t>there</a:t>
            </a:r>
            <a:r>
              <a:rPr lang="en-US" sz="2800" b="1" spc="-30" dirty="0"/>
              <a:t> </a:t>
            </a:r>
            <a:r>
              <a:rPr lang="en-US" sz="2800" b="1" dirty="0"/>
              <a:t>in</a:t>
            </a:r>
            <a:r>
              <a:rPr lang="en-US" sz="2800" b="1" spc="-20" dirty="0"/>
              <a:t> </a:t>
            </a:r>
            <a:r>
              <a:rPr lang="en-US" sz="2800" b="1" dirty="0"/>
              <a:t>the</a:t>
            </a:r>
            <a:r>
              <a:rPr lang="en-US" sz="2800" b="1" spc="-25" dirty="0"/>
              <a:t> </a:t>
            </a:r>
            <a:r>
              <a:rPr lang="en-US" sz="2800" b="1" spc="-10" dirty="0"/>
              <a:t>database?</a:t>
            </a:r>
            <a:endParaRPr lang="en-IN" sz="2800" b="1" dirty="0"/>
          </a:p>
        </p:txBody>
      </p:sp>
      <p:pic>
        <p:nvPicPr>
          <p:cNvPr id="4" name="object 4">
            <a:extLst>
              <a:ext uri="{FF2B5EF4-FFF2-40B4-BE49-F238E27FC236}">
                <a16:creationId xmlns:a16="http://schemas.microsoft.com/office/drawing/2014/main" id="{E934F94C-739A-40CF-BCF3-752CCF79AA0C}"/>
              </a:ext>
            </a:extLst>
          </p:cNvPr>
          <p:cNvPicPr/>
          <p:nvPr/>
        </p:nvPicPr>
        <p:blipFill>
          <a:blip r:embed="rId2" cstate="print"/>
          <a:stretch>
            <a:fillRect/>
          </a:stretch>
        </p:blipFill>
        <p:spPr>
          <a:xfrm>
            <a:off x="1630679" y="2528316"/>
            <a:ext cx="3764281" cy="2089404"/>
          </a:xfrm>
          <a:prstGeom prst="rect">
            <a:avLst/>
          </a:prstGeom>
        </p:spPr>
      </p:pic>
      <p:pic>
        <p:nvPicPr>
          <p:cNvPr id="5" name="object 5">
            <a:extLst>
              <a:ext uri="{FF2B5EF4-FFF2-40B4-BE49-F238E27FC236}">
                <a16:creationId xmlns:a16="http://schemas.microsoft.com/office/drawing/2014/main" id="{8895EC60-973B-3D74-23FD-FEFC4BE2DEBF}"/>
              </a:ext>
            </a:extLst>
          </p:cNvPr>
          <p:cNvPicPr/>
          <p:nvPr/>
        </p:nvPicPr>
        <p:blipFill>
          <a:blip r:embed="rId3" cstate="print"/>
          <a:stretch>
            <a:fillRect/>
          </a:stretch>
        </p:blipFill>
        <p:spPr>
          <a:xfrm>
            <a:off x="6614160" y="2811780"/>
            <a:ext cx="3491484" cy="1522476"/>
          </a:xfrm>
          <a:prstGeom prst="rect">
            <a:avLst/>
          </a:prstGeom>
        </p:spPr>
      </p:pic>
      <p:pic>
        <p:nvPicPr>
          <p:cNvPr id="6" name="Picture 5">
            <a:extLst>
              <a:ext uri="{FF2B5EF4-FFF2-40B4-BE49-F238E27FC236}">
                <a16:creationId xmlns:a16="http://schemas.microsoft.com/office/drawing/2014/main" id="{B720558F-E365-BAE2-1A52-B62948B36F5D}"/>
              </a:ext>
            </a:extLst>
          </p:cNvPr>
          <p:cNvPicPr>
            <a:picLocks noChangeAspect="1"/>
          </p:cNvPicPr>
          <p:nvPr/>
        </p:nvPicPr>
        <p:blipFill>
          <a:blip r:embed="rId4"/>
          <a:stretch>
            <a:fillRect/>
          </a:stretch>
        </p:blipFill>
        <p:spPr>
          <a:xfrm>
            <a:off x="87105" y="68826"/>
            <a:ext cx="3767140" cy="847337"/>
          </a:xfrm>
          <a:prstGeom prst="rect">
            <a:avLst/>
          </a:prstGeom>
        </p:spPr>
      </p:pic>
    </p:spTree>
    <p:extLst>
      <p:ext uri="{BB962C8B-B14F-4D97-AF65-F5344CB8AC3E}">
        <p14:creationId xmlns:p14="http://schemas.microsoft.com/office/powerpoint/2010/main" val="6621651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F3B9736-ED2D-75ED-040C-2A91EFE87FC5}"/>
              </a:ext>
            </a:extLst>
          </p:cNvPr>
          <p:cNvSpPr txBox="1"/>
          <p:nvPr/>
        </p:nvSpPr>
        <p:spPr>
          <a:xfrm>
            <a:off x="1760220" y="882134"/>
            <a:ext cx="8671560" cy="523220"/>
          </a:xfrm>
          <a:prstGeom prst="rect">
            <a:avLst/>
          </a:prstGeom>
          <a:noFill/>
        </p:spPr>
        <p:txBody>
          <a:bodyPr wrap="square">
            <a:spAutoFit/>
          </a:bodyPr>
          <a:lstStyle/>
          <a:p>
            <a:pPr algn="ctr"/>
            <a:r>
              <a:rPr lang="en-US" sz="2800" b="1" dirty="0"/>
              <a:t>16.Which</a:t>
            </a:r>
            <a:r>
              <a:rPr lang="en-US" sz="2800" b="1" spc="-55" dirty="0"/>
              <a:t> </a:t>
            </a:r>
            <a:r>
              <a:rPr lang="en-US" sz="2800" b="1" dirty="0"/>
              <a:t>supplier</a:t>
            </a:r>
            <a:r>
              <a:rPr lang="en-US" sz="2800" b="1" spc="-85" dirty="0"/>
              <a:t> </a:t>
            </a:r>
            <a:r>
              <a:rPr lang="en-US" sz="2800" b="1" dirty="0"/>
              <a:t>provides</a:t>
            </a:r>
            <a:r>
              <a:rPr lang="en-US" sz="2800" b="1" spc="-50" dirty="0"/>
              <a:t> </a:t>
            </a:r>
            <a:r>
              <a:rPr lang="en-US" sz="2800" b="1" dirty="0"/>
              <a:t>the</a:t>
            </a:r>
            <a:r>
              <a:rPr lang="en-US" sz="2800" b="1" spc="-30" dirty="0"/>
              <a:t> </a:t>
            </a:r>
            <a:r>
              <a:rPr lang="en-US" sz="2800" b="1" dirty="0"/>
              <a:t>most</a:t>
            </a:r>
            <a:r>
              <a:rPr lang="en-US" sz="2800" b="1" spc="-70" dirty="0"/>
              <a:t> </a:t>
            </a:r>
            <a:r>
              <a:rPr lang="en-US" sz="2800" b="1" spc="-10" dirty="0"/>
              <a:t>products?</a:t>
            </a:r>
            <a:endParaRPr lang="en-IN" sz="2800" b="1" dirty="0"/>
          </a:p>
        </p:txBody>
      </p:sp>
      <p:pic>
        <p:nvPicPr>
          <p:cNvPr id="4" name="object 4">
            <a:extLst>
              <a:ext uri="{FF2B5EF4-FFF2-40B4-BE49-F238E27FC236}">
                <a16:creationId xmlns:a16="http://schemas.microsoft.com/office/drawing/2014/main" id="{17F207B7-8FB6-8410-CCB6-AB6FCB8914DB}"/>
              </a:ext>
            </a:extLst>
          </p:cNvPr>
          <p:cNvPicPr/>
          <p:nvPr/>
        </p:nvPicPr>
        <p:blipFill>
          <a:blip r:embed="rId2" cstate="print"/>
          <a:stretch>
            <a:fillRect/>
          </a:stretch>
        </p:blipFill>
        <p:spPr>
          <a:xfrm>
            <a:off x="1211580" y="2007107"/>
            <a:ext cx="4549140" cy="2336293"/>
          </a:xfrm>
          <a:prstGeom prst="rect">
            <a:avLst/>
          </a:prstGeom>
        </p:spPr>
      </p:pic>
      <p:pic>
        <p:nvPicPr>
          <p:cNvPr id="8" name="object 5">
            <a:extLst>
              <a:ext uri="{FF2B5EF4-FFF2-40B4-BE49-F238E27FC236}">
                <a16:creationId xmlns:a16="http://schemas.microsoft.com/office/drawing/2014/main" id="{1ADA3190-5525-6C04-BD01-6DFACF688C39}"/>
              </a:ext>
            </a:extLst>
          </p:cNvPr>
          <p:cNvPicPr/>
          <p:nvPr/>
        </p:nvPicPr>
        <p:blipFill>
          <a:blip r:embed="rId3" cstate="print"/>
          <a:stretch>
            <a:fillRect/>
          </a:stretch>
        </p:blipFill>
        <p:spPr>
          <a:xfrm>
            <a:off x="5044440" y="4945153"/>
            <a:ext cx="5707380" cy="1272767"/>
          </a:xfrm>
          <a:prstGeom prst="rect">
            <a:avLst/>
          </a:prstGeom>
        </p:spPr>
      </p:pic>
      <p:pic>
        <p:nvPicPr>
          <p:cNvPr id="9" name="Picture 8">
            <a:extLst>
              <a:ext uri="{FF2B5EF4-FFF2-40B4-BE49-F238E27FC236}">
                <a16:creationId xmlns:a16="http://schemas.microsoft.com/office/drawing/2014/main" id="{E2EA06CB-C7AF-4EE6-8C01-D3DBD2D2A466}"/>
              </a:ext>
            </a:extLst>
          </p:cNvPr>
          <p:cNvPicPr>
            <a:picLocks noChangeAspect="1"/>
          </p:cNvPicPr>
          <p:nvPr/>
        </p:nvPicPr>
        <p:blipFill>
          <a:blip r:embed="rId4"/>
          <a:stretch>
            <a:fillRect/>
          </a:stretch>
        </p:blipFill>
        <p:spPr>
          <a:xfrm>
            <a:off x="87105" y="68826"/>
            <a:ext cx="3767140" cy="847337"/>
          </a:xfrm>
          <a:prstGeom prst="rect">
            <a:avLst/>
          </a:prstGeom>
        </p:spPr>
      </p:pic>
    </p:spTree>
    <p:extLst>
      <p:ext uri="{BB962C8B-B14F-4D97-AF65-F5344CB8AC3E}">
        <p14:creationId xmlns:p14="http://schemas.microsoft.com/office/powerpoint/2010/main" val="417878894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E5B69FF-E7D1-8C61-BB41-AD6AC5C090E3}"/>
              </a:ext>
            </a:extLst>
          </p:cNvPr>
          <p:cNvSpPr txBox="1"/>
          <p:nvPr/>
        </p:nvSpPr>
        <p:spPr>
          <a:xfrm>
            <a:off x="1524000" y="912614"/>
            <a:ext cx="8869680" cy="954107"/>
          </a:xfrm>
          <a:prstGeom prst="rect">
            <a:avLst/>
          </a:prstGeom>
          <a:noFill/>
        </p:spPr>
        <p:txBody>
          <a:bodyPr wrap="square">
            <a:spAutoFit/>
          </a:bodyPr>
          <a:lstStyle/>
          <a:p>
            <a:pPr algn="ctr"/>
            <a:r>
              <a:rPr lang="en-US" sz="2800" b="1" dirty="0"/>
              <a:t>17.What</a:t>
            </a:r>
            <a:r>
              <a:rPr lang="en-US" sz="2800" b="1" spc="65" dirty="0"/>
              <a:t> </a:t>
            </a:r>
            <a:r>
              <a:rPr lang="en-US" sz="2800" b="1" dirty="0"/>
              <a:t>is</a:t>
            </a:r>
            <a:r>
              <a:rPr lang="en-US" sz="2800" b="1" spc="90" dirty="0"/>
              <a:t> </a:t>
            </a:r>
            <a:r>
              <a:rPr lang="en-US" sz="2800" b="1" dirty="0"/>
              <a:t>the</a:t>
            </a:r>
            <a:r>
              <a:rPr lang="en-US" sz="2800" b="1" spc="5" dirty="0"/>
              <a:t> </a:t>
            </a:r>
            <a:r>
              <a:rPr lang="en-US" sz="2800" b="1" dirty="0"/>
              <a:t>average</a:t>
            </a:r>
            <a:r>
              <a:rPr lang="en-US" sz="2800" b="1" spc="-5" dirty="0"/>
              <a:t> </a:t>
            </a:r>
            <a:r>
              <a:rPr lang="en-US" sz="2800" b="1" dirty="0"/>
              <a:t>price</a:t>
            </a:r>
            <a:r>
              <a:rPr lang="en-US" sz="2800" b="1" spc="20" dirty="0"/>
              <a:t> </a:t>
            </a:r>
            <a:r>
              <a:rPr lang="en-US" sz="2800" b="1" dirty="0"/>
              <a:t>of</a:t>
            </a:r>
            <a:r>
              <a:rPr lang="en-US" sz="2800" b="1" spc="-20" dirty="0"/>
              <a:t> </a:t>
            </a:r>
            <a:r>
              <a:rPr lang="en-US" sz="2800" b="1" dirty="0"/>
              <a:t>products</a:t>
            </a:r>
            <a:r>
              <a:rPr lang="en-US" sz="2800" b="1" spc="10" dirty="0"/>
              <a:t> </a:t>
            </a:r>
            <a:r>
              <a:rPr lang="en-US" sz="2800" b="1" dirty="0"/>
              <a:t>from</a:t>
            </a:r>
            <a:r>
              <a:rPr lang="en-US" sz="2800" b="1" spc="30" dirty="0"/>
              <a:t> </a:t>
            </a:r>
            <a:r>
              <a:rPr lang="en-US" sz="2800" b="1" dirty="0"/>
              <a:t>each</a:t>
            </a:r>
            <a:r>
              <a:rPr lang="en-US" sz="2800" b="1" spc="20" dirty="0"/>
              <a:t> </a:t>
            </a:r>
            <a:r>
              <a:rPr lang="en-US" sz="2800" b="1" spc="-10" dirty="0"/>
              <a:t>supplier?</a:t>
            </a:r>
            <a:endParaRPr lang="en-IN" sz="2800" b="1" dirty="0"/>
          </a:p>
        </p:txBody>
      </p:sp>
      <p:pic>
        <p:nvPicPr>
          <p:cNvPr id="4" name="object 4">
            <a:extLst>
              <a:ext uri="{FF2B5EF4-FFF2-40B4-BE49-F238E27FC236}">
                <a16:creationId xmlns:a16="http://schemas.microsoft.com/office/drawing/2014/main" id="{80A2AF16-C9C1-DFE7-D02C-A68F229CD739}"/>
              </a:ext>
            </a:extLst>
          </p:cNvPr>
          <p:cNvPicPr/>
          <p:nvPr/>
        </p:nvPicPr>
        <p:blipFill>
          <a:blip r:embed="rId2" cstate="print"/>
          <a:stretch>
            <a:fillRect/>
          </a:stretch>
        </p:blipFill>
        <p:spPr>
          <a:xfrm>
            <a:off x="1264919" y="2606040"/>
            <a:ext cx="4831081" cy="2072640"/>
          </a:xfrm>
          <a:prstGeom prst="rect">
            <a:avLst/>
          </a:prstGeom>
        </p:spPr>
      </p:pic>
      <p:pic>
        <p:nvPicPr>
          <p:cNvPr id="5" name="object 5">
            <a:extLst>
              <a:ext uri="{FF2B5EF4-FFF2-40B4-BE49-F238E27FC236}">
                <a16:creationId xmlns:a16="http://schemas.microsoft.com/office/drawing/2014/main" id="{B8536427-DB00-0AC0-CB58-DB602D4F0EE8}"/>
              </a:ext>
            </a:extLst>
          </p:cNvPr>
          <p:cNvPicPr/>
          <p:nvPr/>
        </p:nvPicPr>
        <p:blipFill>
          <a:blip r:embed="rId3" cstate="print"/>
          <a:stretch>
            <a:fillRect/>
          </a:stretch>
        </p:blipFill>
        <p:spPr>
          <a:xfrm>
            <a:off x="6827521" y="4206240"/>
            <a:ext cx="4404360" cy="2377440"/>
          </a:xfrm>
          <a:prstGeom prst="rect">
            <a:avLst/>
          </a:prstGeom>
        </p:spPr>
      </p:pic>
      <p:pic>
        <p:nvPicPr>
          <p:cNvPr id="6" name="Picture 5">
            <a:extLst>
              <a:ext uri="{FF2B5EF4-FFF2-40B4-BE49-F238E27FC236}">
                <a16:creationId xmlns:a16="http://schemas.microsoft.com/office/drawing/2014/main" id="{42C9B630-6B67-010D-26D0-2CC73CC29753}"/>
              </a:ext>
            </a:extLst>
          </p:cNvPr>
          <p:cNvPicPr>
            <a:picLocks noChangeAspect="1"/>
          </p:cNvPicPr>
          <p:nvPr/>
        </p:nvPicPr>
        <p:blipFill>
          <a:blip r:embed="rId4"/>
          <a:stretch>
            <a:fillRect/>
          </a:stretch>
        </p:blipFill>
        <p:spPr>
          <a:xfrm>
            <a:off x="87105" y="68826"/>
            <a:ext cx="3767140" cy="847337"/>
          </a:xfrm>
          <a:prstGeom prst="rect">
            <a:avLst/>
          </a:prstGeom>
        </p:spPr>
      </p:pic>
    </p:spTree>
    <p:extLst>
      <p:ext uri="{BB962C8B-B14F-4D97-AF65-F5344CB8AC3E}">
        <p14:creationId xmlns:p14="http://schemas.microsoft.com/office/powerpoint/2010/main" val="339397847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47FAA12-3C49-BE65-57C6-D6EC6BB43A95}"/>
              </a:ext>
            </a:extLst>
          </p:cNvPr>
          <p:cNvSpPr txBox="1"/>
          <p:nvPr/>
        </p:nvSpPr>
        <p:spPr>
          <a:xfrm>
            <a:off x="982980" y="967985"/>
            <a:ext cx="10226040" cy="954107"/>
          </a:xfrm>
          <a:prstGeom prst="rect">
            <a:avLst/>
          </a:prstGeom>
          <a:noFill/>
        </p:spPr>
        <p:txBody>
          <a:bodyPr wrap="square">
            <a:spAutoFit/>
          </a:bodyPr>
          <a:lstStyle/>
          <a:p>
            <a:pPr algn="ctr"/>
            <a:r>
              <a:rPr lang="en-US" sz="2800" b="1" dirty="0"/>
              <a:t>18.Which</a:t>
            </a:r>
            <a:r>
              <a:rPr lang="en-US" sz="2800" b="1" spc="60" dirty="0"/>
              <a:t> </a:t>
            </a:r>
            <a:r>
              <a:rPr lang="en-US" sz="2800" b="1" dirty="0"/>
              <a:t>suppliers</a:t>
            </a:r>
            <a:r>
              <a:rPr lang="en-US" sz="2800" b="1" spc="35" dirty="0"/>
              <a:t> </a:t>
            </a:r>
            <a:r>
              <a:rPr lang="en-US" sz="2800" b="1" dirty="0"/>
              <a:t>contribute</a:t>
            </a:r>
            <a:r>
              <a:rPr lang="en-US" sz="2800" b="1" spc="55" dirty="0"/>
              <a:t> </a:t>
            </a:r>
            <a:r>
              <a:rPr lang="en-US" sz="2800" b="1" dirty="0"/>
              <a:t>the</a:t>
            </a:r>
            <a:r>
              <a:rPr lang="en-US" sz="2800" b="1" spc="40" dirty="0"/>
              <a:t> </a:t>
            </a:r>
            <a:r>
              <a:rPr lang="en-US" sz="2800" b="1" dirty="0"/>
              <a:t>most</a:t>
            </a:r>
            <a:r>
              <a:rPr lang="en-US" sz="2800" b="1" spc="60" dirty="0"/>
              <a:t> </a:t>
            </a:r>
            <a:r>
              <a:rPr lang="en-US" sz="2800" b="1" dirty="0"/>
              <a:t>to</a:t>
            </a:r>
            <a:r>
              <a:rPr lang="en-US" sz="2800" b="1" spc="70" dirty="0"/>
              <a:t> </a:t>
            </a:r>
            <a:r>
              <a:rPr lang="en-US" sz="2800" b="1" dirty="0"/>
              <a:t>total</a:t>
            </a:r>
            <a:r>
              <a:rPr lang="en-US" sz="2800" b="1" spc="45" dirty="0"/>
              <a:t> </a:t>
            </a:r>
            <a:r>
              <a:rPr lang="en-US" sz="2800" b="1" dirty="0"/>
              <a:t>product</a:t>
            </a:r>
            <a:r>
              <a:rPr lang="en-US" sz="2800" b="1" spc="65" dirty="0"/>
              <a:t> </a:t>
            </a:r>
            <a:r>
              <a:rPr lang="en-US" sz="2800" b="1" dirty="0"/>
              <a:t>sales</a:t>
            </a:r>
            <a:r>
              <a:rPr lang="en-US" sz="2800" b="1" spc="45" dirty="0"/>
              <a:t> </a:t>
            </a:r>
            <a:r>
              <a:rPr lang="en-US" sz="2800" b="1" dirty="0"/>
              <a:t>(by</a:t>
            </a:r>
            <a:r>
              <a:rPr lang="en-US" sz="2800" b="1" spc="50" dirty="0"/>
              <a:t> </a:t>
            </a:r>
            <a:r>
              <a:rPr lang="en-US" sz="2800" b="1" spc="-10" dirty="0"/>
              <a:t>revenue)</a:t>
            </a:r>
            <a:endParaRPr lang="en-IN" sz="2800" b="1" dirty="0"/>
          </a:p>
        </p:txBody>
      </p:sp>
      <p:pic>
        <p:nvPicPr>
          <p:cNvPr id="4" name="object 4">
            <a:extLst>
              <a:ext uri="{FF2B5EF4-FFF2-40B4-BE49-F238E27FC236}">
                <a16:creationId xmlns:a16="http://schemas.microsoft.com/office/drawing/2014/main" id="{1FF8EFD5-90FE-6D3F-7180-DFB0E617A346}"/>
              </a:ext>
            </a:extLst>
          </p:cNvPr>
          <p:cNvPicPr/>
          <p:nvPr/>
        </p:nvPicPr>
        <p:blipFill>
          <a:blip r:embed="rId2" cstate="print"/>
          <a:stretch>
            <a:fillRect/>
          </a:stretch>
        </p:blipFill>
        <p:spPr>
          <a:xfrm>
            <a:off x="861060" y="2299716"/>
            <a:ext cx="4823460" cy="2942844"/>
          </a:xfrm>
          <a:prstGeom prst="rect">
            <a:avLst/>
          </a:prstGeom>
        </p:spPr>
      </p:pic>
      <p:pic>
        <p:nvPicPr>
          <p:cNvPr id="5" name="object 5">
            <a:extLst>
              <a:ext uri="{FF2B5EF4-FFF2-40B4-BE49-F238E27FC236}">
                <a16:creationId xmlns:a16="http://schemas.microsoft.com/office/drawing/2014/main" id="{C6F39EEE-68D6-3B36-32BE-BAC1AF2C9B6B}"/>
              </a:ext>
            </a:extLst>
          </p:cNvPr>
          <p:cNvPicPr/>
          <p:nvPr/>
        </p:nvPicPr>
        <p:blipFill>
          <a:blip r:embed="rId3" cstate="print"/>
          <a:stretch>
            <a:fillRect/>
          </a:stretch>
        </p:blipFill>
        <p:spPr>
          <a:xfrm>
            <a:off x="6310884" y="4236719"/>
            <a:ext cx="4823460" cy="1376171"/>
          </a:xfrm>
          <a:prstGeom prst="rect">
            <a:avLst/>
          </a:prstGeom>
        </p:spPr>
      </p:pic>
      <p:pic>
        <p:nvPicPr>
          <p:cNvPr id="6" name="Picture 5">
            <a:extLst>
              <a:ext uri="{FF2B5EF4-FFF2-40B4-BE49-F238E27FC236}">
                <a16:creationId xmlns:a16="http://schemas.microsoft.com/office/drawing/2014/main" id="{BCA2EBAF-5111-5941-CC02-0435D95491D2}"/>
              </a:ext>
            </a:extLst>
          </p:cNvPr>
          <p:cNvPicPr>
            <a:picLocks noChangeAspect="1"/>
          </p:cNvPicPr>
          <p:nvPr/>
        </p:nvPicPr>
        <p:blipFill>
          <a:blip r:embed="rId4"/>
          <a:stretch>
            <a:fillRect/>
          </a:stretch>
        </p:blipFill>
        <p:spPr>
          <a:xfrm>
            <a:off x="87105" y="68826"/>
            <a:ext cx="3767140" cy="847337"/>
          </a:xfrm>
          <a:prstGeom prst="rect">
            <a:avLst/>
          </a:prstGeom>
        </p:spPr>
      </p:pic>
    </p:spTree>
    <p:extLst>
      <p:ext uri="{BB962C8B-B14F-4D97-AF65-F5344CB8AC3E}">
        <p14:creationId xmlns:p14="http://schemas.microsoft.com/office/powerpoint/2010/main" val="320649628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22E7878-A26A-02B7-5CDC-BB6E3F957348}"/>
              </a:ext>
            </a:extLst>
          </p:cNvPr>
          <p:cNvSpPr txBox="1"/>
          <p:nvPr/>
        </p:nvSpPr>
        <p:spPr>
          <a:xfrm>
            <a:off x="2225040" y="962038"/>
            <a:ext cx="7741920" cy="523220"/>
          </a:xfrm>
          <a:prstGeom prst="rect">
            <a:avLst/>
          </a:prstGeom>
          <a:noFill/>
        </p:spPr>
        <p:txBody>
          <a:bodyPr wrap="square">
            <a:spAutoFit/>
          </a:bodyPr>
          <a:lstStyle/>
          <a:p>
            <a:pPr algn="ctr"/>
            <a:r>
              <a:rPr lang="en-US" sz="2800" b="1" dirty="0"/>
              <a:t>19.How</a:t>
            </a:r>
            <a:r>
              <a:rPr lang="en-US" sz="2800" b="1" spc="55" dirty="0"/>
              <a:t> </a:t>
            </a:r>
            <a:r>
              <a:rPr lang="en-US" sz="2800" b="1" dirty="0"/>
              <a:t>many</a:t>
            </a:r>
            <a:r>
              <a:rPr lang="en-US" sz="2800" b="1" spc="50" dirty="0"/>
              <a:t> </a:t>
            </a:r>
            <a:r>
              <a:rPr lang="en-US" sz="2800" b="1" dirty="0"/>
              <a:t>employees</a:t>
            </a:r>
            <a:r>
              <a:rPr lang="en-US" sz="2800" b="1" spc="35" dirty="0"/>
              <a:t> </a:t>
            </a:r>
            <a:r>
              <a:rPr lang="en-US" sz="2800" b="1" dirty="0"/>
              <a:t>have</a:t>
            </a:r>
            <a:r>
              <a:rPr lang="en-US" sz="2800" b="1" spc="50" dirty="0"/>
              <a:t> </a:t>
            </a:r>
            <a:r>
              <a:rPr lang="en-US" sz="2800" b="1" dirty="0"/>
              <a:t>processed</a:t>
            </a:r>
            <a:r>
              <a:rPr lang="en-US" sz="2800" b="1" spc="50" dirty="0"/>
              <a:t> </a:t>
            </a:r>
            <a:r>
              <a:rPr lang="en-US" sz="2800" b="1" spc="-10" dirty="0"/>
              <a:t>orders?</a:t>
            </a:r>
            <a:endParaRPr lang="en-IN" sz="2800" b="1" dirty="0"/>
          </a:p>
        </p:txBody>
      </p:sp>
      <p:pic>
        <p:nvPicPr>
          <p:cNvPr id="4" name="object 4">
            <a:extLst>
              <a:ext uri="{FF2B5EF4-FFF2-40B4-BE49-F238E27FC236}">
                <a16:creationId xmlns:a16="http://schemas.microsoft.com/office/drawing/2014/main" id="{1BA80B6A-C018-0B59-3A25-E7A602A374FF}"/>
              </a:ext>
            </a:extLst>
          </p:cNvPr>
          <p:cNvPicPr/>
          <p:nvPr/>
        </p:nvPicPr>
        <p:blipFill>
          <a:blip r:embed="rId2" cstate="print"/>
          <a:stretch>
            <a:fillRect/>
          </a:stretch>
        </p:blipFill>
        <p:spPr>
          <a:xfrm>
            <a:off x="1127760" y="2054353"/>
            <a:ext cx="4541520" cy="2167128"/>
          </a:xfrm>
          <a:prstGeom prst="rect">
            <a:avLst/>
          </a:prstGeom>
        </p:spPr>
      </p:pic>
      <p:pic>
        <p:nvPicPr>
          <p:cNvPr id="5" name="object 5">
            <a:extLst>
              <a:ext uri="{FF2B5EF4-FFF2-40B4-BE49-F238E27FC236}">
                <a16:creationId xmlns:a16="http://schemas.microsoft.com/office/drawing/2014/main" id="{D3E637D1-F977-998C-5FD0-22D128057481}"/>
              </a:ext>
            </a:extLst>
          </p:cNvPr>
          <p:cNvPicPr/>
          <p:nvPr/>
        </p:nvPicPr>
        <p:blipFill>
          <a:blip r:embed="rId3" cstate="print"/>
          <a:stretch>
            <a:fillRect/>
          </a:stretch>
        </p:blipFill>
        <p:spPr>
          <a:xfrm>
            <a:off x="6096000" y="4509554"/>
            <a:ext cx="5044440" cy="1572992"/>
          </a:xfrm>
          <a:prstGeom prst="rect">
            <a:avLst/>
          </a:prstGeom>
        </p:spPr>
      </p:pic>
      <p:pic>
        <p:nvPicPr>
          <p:cNvPr id="6" name="Picture 5">
            <a:extLst>
              <a:ext uri="{FF2B5EF4-FFF2-40B4-BE49-F238E27FC236}">
                <a16:creationId xmlns:a16="http://schemas.microsoft.com/office/drawing/2014/main" id="{FF164B17-85D9-CDD3-4514-40ADA327B36B}"/>
              </a:ext>
            </a:extLst>
          </p:cNvPr>
          <p:cNvPicPr>
            <a:picLocks noChangeAspect="1"/>
          </p:cNvPicPr>
          <p:nvPr/>
        </p:nvPicPr>
        <p:blipFill>
          <a:blip r:embed="rId4"/>
          <a:stretch>
            <a:fillRect/>
          </a:stretch>
        </p:blipFill>
        <p:spPr>
          <a:xfrm>
            <a:off x="87105" y="68826"/>
            <a:ext cx="3767140" cy="847337"/>
          </a:xfrm>
          <a:prstGeom prst="rect">
            <a:avLst/>
          </a:prstGeom>
        </p:spPr>
      </p:pic>
    </p:spTree>
    <p:extLst>
      <p:ext uri="{BB962C8B-B14F-4D97-AF65-F5344CB8AC3E}">
        <p14:creationId xmlns:p14="http://schemas.microsoft.com/office/powerpoint/2010/main" val="302405872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E54F1EB-2863-1D58-89B1-33EDFE563A97}"/>
              </a:ext>
            </a:extLst>
          </p:cNvPr>
          <p:cNvSpPr txBox="1"/>
          <p:nvPr/>
        </p:nvSpPr>
        <p:spPr>
          <a:xfrm>
            <a:off x="1713186" y="943093"/>
            <a:ext cx="8741454" cy="954107"/>
          </a:xfrm>
          <a:prstGeom prst="rect">
            <a:avLst/>
          </a:prstGeom>
          <a:noFill/>
        </p:spPr>
        <p:txBody>
          <a:bodyPr wrap="square">
            <a:spAutoFit/>
          </a:bodyPr>
          <a:lstStyle/>
          <a:p>
            <a:pPr algn="ctr"/>
            <a:r>
              <a:rPr lang="en-US" sz="2800" b="1" dirty="0"/>
              <a:t>20.Which</a:t>
            </a:r>
            <a:r>
              <a:rPr lang="en-US" sz="2800" b="1" spc="-25" dirty="0"/>
              <a:t> </a:t>
            </a:r>
            <a:r>
              <a:rPr lang="en-US" sz="2800" b="1" dirty="0"/>
              <a:t>employees</a:t>
            </a:r>
            <a:r>
              <a:rPr lang="en-US" sz="2800" b="1" spc="-25" dirty="0"/>
              <a:t> </a:t>
            </a:r>
            <a:r>
              <a:rPr lang="en-US" sz="2800" b="1" dirty="0"/>
              <a:t>have</a:t>
            </a:r>
            <a:r>
              <a:rPr lang="en-US" sz="2800" b="1" spc="-25" dirty="0"/>
              <a:t> </a:t>
            </a:r>
            <a:r>
              <a:rPr lang="en-US" sz="2800" b="1" dirty="0"/>
              <a:t>handled</a:t>
            </a:r>
            <a:r>
              <a:rPr lang="en-US" sz="2800" b="1" spc="-10" dirty="0"/>
              <a:t> </a:t>
            </a:r>
            <a:r>
              <a:rPr lang="en-US" sz="2800" b="1" dirty="0"/>
              <a:t>the</a:t>
            </a:r>
            <a:r>
              <a:rPr lang="en-US" sz="2800" b="1" spc="-25" dirty="0"/>
              <a:t> </a:t>
            </a:r>
            <a:r>
              <a:rPr lang="en-US" sz="2800" b="1" dirty="0"/>
              <a:t>most</a:t>
            </a:r>
            <a:r>
              <a:rPr lang="en-US" sz="2800" b="1" spc="50" dirty="0"/>
              <a:t> </a:t>
            </a:r>
            <a:r>
              <a:rPr lang="en-US" sz="2800" b="1" spc="-10" dirty="0"/>
              <a:t>orders?</a:t>
            </a:r>
            <a:endParaRPr lang="en-IN" sz="2800" b="1" dirty="0"/>
          </a:p>
        </p:txBody>
      </p:sp>
      <p:pic>
        <p:nvPicPr>
          <p:cNvPr id="4" name="object 4">
            <a:extLst>
              <a:ext uri="{FF2B5EF4-FFF2-40B4-BE49-F238E27FC236}">
                <a16:creationId xmlns:a16="http://schemas.microsoft.com/office/drawing/2014/main" id="{830FF3C5-B0AA-38F7-DE52-869C827A6BB6}"/>
              </a:ext>
            </a:extLst>
          </p:cNvPr>
          <p:cNvPicPr/>
          <p:nvPr/>
        </p:nvPicPr>
        <p:blipFill>
          <a:blip r:embed="rId2" cstate="print"/>
          <a:stretch>
            <a:fillRect/>
          </a:stretch>
        </p:blipFill>
        <p:spPr>
          <a:xfrm>
            <a:off x="3139440" y="1962150"/>
            <a:ext cx="4602479" cy="2426970"/>
          </a:xfrm>
          <a:prstGeom prst="rect">
            <a:avLst/>
          </a:prstGeom>
        </p:spPr>
      </p:pic>
      <p:pic>
        <p:nvPicPr>
          <p:cNvPr id="7" name="object 5">
            <a:extLst>
              <a:ext uri="{FF2B5EF4-FFF2-40B4-BE49-F238E27FC236}">
                <a16:creationId xmlns:a16="http://schemas.microsoft.com/office/drawing/2014/main" id="{B2E2047D-0FA5-3527-97D9-A1B78A7A2FE2}"/>
              </a:ext>
            </a:extLst>
          </p:cNvPr>
          <p:cNvPicPr/>
          <p:nvPr/>
        </p:nvPicPr>
        <p:blipFill>
          <a:blip r:embed="rId3" cstate="print"/>
          <a:stretch>
            <a:fillRect/>
          </a:stretch>
        </p:blipFill>
        <p:spPr>
          <a:xfrm>
            <a:off x="3139440" y="5102841"/>
            <a:ext cx="7360920" cy="1059179"/>
          </a:xfrm>
          <a:prstGeom prst="rect">
            <a:avLst/>
          </a:prstGeom>
        </p:spPr>
      </p:pic>
      <p:pic>
        <p:nvPicPr>
          <p:cNvPr id="8" name="Picture 7">
            <a:extLst>
              <a:ext uri="{FF2B5EF4-FFF2-40B4-BE49-F238E27FC236}">
                <a16:creationId xmlns:a16="http://schemas.microsoft.com/office/drawing/2014/main" id="{CB01BFEB-507D-C87E-396F-94D3A1EA0979}"/>
              </a:ext>
            </a:extLst>
          </p:cNvPr>
          <p:cNvPicPr>
            <a:picLocks noChangeAspect="1"/>
          </p:cNvPicPr>
          <p:nvPr/>
        </p:nvPicPr>
        <p:blipFill>
          <a:blip r:embed="rId4"/>
          <a:stretch>
            <a:fillRect/>
          </a:stretch>
        </p:blipFill>
        <p:spPr>
          <a:xfrm>
            <a:off x="87105" y="68826"/>
            <a:ext cx="3767140" cy="847337"/>
          </a:xfrm>
          <a:prstGeom prst="rect">
            <a:avLst/>
          </a:prstGeom>
        </p:spPr>
      </p:pic>
    </p:spTree>
    <p:extLst>
      <p:ext uri="{BB962C8B-B14F-4D97-AF65-F5344CB8AC3E}">
        <p14:creationId xmlns:p14="http://schemas.microsoft.com/office/powerpoint/2010/main" val="271407706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19157A2-6186-30A6-8E69-5E51514F6301}"/>
              </a:ext>
            </a:extLst>
          </p:cNvPr>
          <p:cNvSpPr txBox="1"/>
          <p:nvPr/>
        </p:nvSpPr>
        <p:spPr>
          <a:xfrm>
            <a:off x="1630680" y="1080254"/>
            <a:ext cx="8671560" cy="954107"/>
          </a:xfrm>
          <a:prstGeom prst="rect">
            <a:avLst/>
          </a:prstGeom>
          <a:noFill/>
        </p:spPr>
        <p:txBody>
          <a:bodyPr wrap="square">
            <a:spAutoFit/>
          </a:bodyPr>
          <a:lstStyle/>
          <a:p>
            <a:pPr algn="ctr"/>
            <a:r>
              <a:rPr lang="en-US" sz="2800" b="1" dirty="0"/>
              <a:t>21.What</a:t>
            </a:r>
            <a:r>
              <a:rPr lang="en-US" sz="2800" b="1" spc="-5" dirty="0"/>
              <a:t> </a:t>
            </a:r>
            <a:r>
              <a:rPr lang="en-US" sz="2800" b="1" dirty="0"/>
              <a:t>is</a:t>
            </a:r>
            <a:r>
              <a:rPr lang="en-US" sz="2800" b="1" spc="35" dirty="0"/>
              <a:t> </a:t>
            </a:r>
            <a:r>
              <a:rPr lang="en-US" sz="2800" b="1" dirty="0"/>
              <a:t>the</a:t>
            </a:r>
            <a:r>
              <a:rPr lang="en-US" sz="2800" b="1" spc="-35" dirty="0"/>
              <a:t> </a:t>
            </a:r>
            <a:r>
              <a:rPr lang="en-US" sz="2800" b="1" dirty="0"/>
              <a:t>total</a:t>
            </a:r>
            <a:r>
              <a:rPr lang="en-US" sz="2800" b="1" spc="-75" dirty="0"/>
              <a:t> </a:t>
            </a:r>
            <a:r>
              <a:rPr lang="en-US" sz="2800" b="1" dirty="0"/>
              <a:t>sales</a:t>
            </a:r>
            <a:r>
              <a:rPr lang="en-US" sz="2800" b="1" spc="-50" dirty="0"/>
              <a:t> </a:t>
            </a:r>
            <a:r>
              <a:rPr lang="en-US" sz="2800" b="1" dirty="0"/>
              <a:t>value</a:t>
            </a:r>
            <a:r>
              <a:rPr lang="en-US" sz="2800" b="1" spc="-40" dirty="0"/>
              <a:t> </a:t>
            </a:r>
            <a:r>
              <a:rPr lang="en-US" sz="2800" b="1" dirty="0"/>
              <a:t>processed</a:t>
            </a:r>
            <a:r>
              <a:rPr lang="en-US" sz="2800" b="1" spc="-30" dirty="0"/>
              <a:t> </a:t>
            </a:r>
            <a:r>
              <a:rPr lang="en-US" sz="2800" b="1" dirty="0"/>
              <a:t>by</a:t>
            </a:r>
            <a:r>
              <a:rPr lang="en-US" sz="2800" b="1" spc="-30" dirty="0"/>
              <a:t> </a:t>
            </a:r>
            <a:r>
              <a:rPr lang="en-US" sz="2800" b="1" dirty="0"/>
              <a:t>each</a:t>
            </a:r>
            <a:r>
              <a:rPr lang="en-US" sz="2800" b="1" spc="-30" dirty="0"/>
              <a:t> </a:t>
            </a:r>
            <a:r>
              <a:rPr lang="en-US" sz="2800" b="1" spc="-10" dirty="0"/>
              <a:t>employee?</a:t>
            </a:r>
            <a:endParaRPr lang="en-IN" sz="2800" b="1" dirty="0"/>
          </a:p>
        </p:txBody>
      </p:sp>
      <p:pic>
        <p:nvPicPr>
          <p:cNvPr id="4" name="object 4">
            <a:extLst>
              <a:ext uri="{FF2B5EF4-FFF2-40B4-BE49-F238E27FC236}">
                <a16:creationId xmlns:a16="http://schemas.microsoft.com/office/drawing/2014/main" id="{1A0809CF-EB43-5B34-82ED-970AC120D1AB}"/>
              </a:ext>
            </a:extLst>
          </p:cNvPr>
          <p:cNvPicPr/>
          <p:nvPr/>
        </p:nvPicPr>
        <p:blipFill>
          <a:blip r:embed="rId2" cstate="print"/>
          <a:stretch>
            <a:fillRect/>
          </a:stretch>
        </p:blipFill>
        <p:spPr>
          <a:xfrm>
            <a:off x="1295401" y="2438400"/>
            <a:ext cx="4175759" cy="2537640"/>
          </a:xfrm>
          <a:prstGeom prst="rect">
            <a:avLst/>
          </a:prstGeom>
        </p:spPr>
      </p:pic>
      <p:pic>
        <p:nvPicPr>
          <p:cNvPr id="7" name="object 5">
            <a:extLst>
              <a:ext uri="{FF2B5EF4-FFF2-40B4-BE49-F238E27FC236}">
                <a16:creationId xmlns:a16="http://schemas.microsoft.com/office/drawing/2014/main" id="{AFEC1FEF-9F74-6837-497F-A742BFA83FE1}"/>
              </a:ext>
            </a:extLst>
          </p:cNvPr>
          <p:cNvPicPr/>
          <p:nvPr/>
        </p:nvPicPr>
        <p:blipFill>
          <a:blip r:embed="rId3" cstate="print"/>
          <a:stretch>
            <a:fillRect/>
          </a:stretch>
        </p:blipFill>
        <p:spPr>
          <a:xfrm>
            <a:off x="6324600" y="2575560"/>
            <a:ext cx="4709162" cy="2537640"/>
          </a:xfrm>
          <a:prstGeom prst="rect">
            <a:avLst/>
          </a:prstGeom>
        </p:spPr>
      </p:pic>
      <p:pic>
        <p:nvPicPr>
          <p:cNvPr id="8" name="Picture 7">
            <a:extLst>
              <a:ext uri="{FF2B5EF4-FFF2-40B4-BE49-F238E27FC236}">
                <a16:creationId xmlns:a16="http://schemas.microsoft.com/office/drawing/2014/main" id="{5FDD9DD5-FE62-533D-B9E2-E72A37E03B80}"/>
              </a:ext>
            </a:extLst>
          </p:cNvPr>
          <p:cNvPicPr>
            <a:picLocks noChangeAspect="1"/>
          </p:cNvPicPr>
          <p:nvPr/>
        </p:nvPicPr>
        <p:blipFill>
          <a:blip r:embed="rId4"/>
          <a:stretch>
            <a:fillRect/>
          </a:stretch>
        </p:blipFill>
        <p:spPr>
          <a:xfrm>
            <a:off x="87105" y="68826"/>
            <a:ext cx="3767140" cy="847337"/>
          </a:xfrm>
          <a:prstGeom prst="rect">
            <a:avLst/>
          </a:prstGeom>
        </p:spPr>
      </p:pic>
    </p:spTree>
    <p:extLst>
      <p:ext uri="{BB962C8B-B14F-4D97-AF65-F5344CB8AC3E}">
        <p14:creationId xmlns:p14="http://schemas.microsoft.com/office/powerpoint/2010/main" val="346816021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592D09A-0BB5-4AD9-F937-F343C1409C22}"/>
              </a:ext>
            </a:extLst>
          </p:cNvPr>
          <p:cNvSpPr txBox="1"/>
          <p:nvPr/>
        </p:nvSpPr>
        <p:spPr>
          <a:xfrm>
            <a:off x="1783080" y="927854"/>
            <a:ext cx="8763000" cy="954107"/>
          </a:xfrm>
          <a:prstGeom prst="rect">
            <a:avLst/>
          </a:prstGeom>
          <a:noFill/>
        </p:spPr>
        <p:txBody>
          <a:bodyPr wrap="square">
            <a:spAutoFit/>
          </a:bodyPr>
          <a:lstStyle/>
          <a:p>
            <a:pPr algn="ctr"/>
            <a:r>
              <a:rPr lang="en-US" sz="2800" b="1" dirty="0"/>
              <a:t>22.What</a:t>
            </a:r>
            <a:r>
              <a:rPr lang="en-US" sz="2800" b="1" spc="10" dirty="0"/>
              <a:t> </a:t>
            </a:r>
            <a:r>
              <a:rPr lang="en-US" sz="2800" b="1" dirty="0"/>
              <a:t>is</a:t>
            </a:r>
            <a:r>
              <a:rPr lang="en-US" sz="2800" b="1" spc="35" dirty="0"/>
              <a:t> </a:t>
            </a:r>
            <a:r>
              <a:rPr lang="en-US" sz="2800" b="1" dirty="0"/>
              <a:t>the</a:t>
            </a:r>
            <a:r>
              <a:rPr lang="en-US" sz="2800" b="1" spc="-30" dirty="0"/>
              <a:t> </a:t>
            </a:r>
            <a:r>
              <a:rPr lang="en-US" sz="2800" b="1" dirty="0"/>
              <a:t>average</a:t>
            </a:r>
            <a:r>
              <a:rPr lang="en-US" sz="2800" b="1" spc="-60" dirty="0"/>
              <a:t> </a:t>
            </a:r>
            <a:r>
              <a:rPr lang="en-US" sz="2800" b="1" dirty="0"/>
              <a:t>order</a:t>
            </a:r>
            <a:r>
              <a:rPr lang="en-US" sz="2800" b="1" spc="-120" dirty="0"/>
              <a:t> </a:t>
            </a:r>
            <a:r>
              <a:rPr lang="en-US" sz="2800" b="1" dirty="0"/>
              <a:t>value</a:t>
            </a:r>
            <a:r>
              <a:rPr lang="en-US" sz="2800" b="1" spc="-35" dirty="0"/>
              <a:t> </a:t>
            </a:r>
            <a:r>
              <a:rPr lang="en-US" sz="2800" b="1" dirty="0"/>
              <a:t>handled</a:t>
            </a:r>
            <a:r>
              <a:rPr lang="en-US" sz="2800" b="1" spc="-5" dirty="0"/>
              <a:t> </a:t>
            </a:r>
            <a:r>
              <a:rPr lang="en-US" sz="2800" b="1" dirty="0"/>
              <a:t>per</a:t>
            </a:r>
            <a:r>
              <a:rPr lang="en-US" sz="2800" b="1" spc="-114" dirty="0"/>
              <a:t> </a:t>
            </a:r>
            <a:r>
              <a:rPr lang="en-US" sz="2800" b="1" spc="-10" dirty="0"/>
              <a:t>employee?</a:t>
            </a:r>
            <a:endParaRPr lang="en-IN" sz="2800" b="1" dirty="0"/>
          </a:p>
        </p:txBody>
      </p:sp>
      <p:pic>
        <p:nvPicPr>
          <p:cNvPr id="4" name="object 4">
            <a:extLst>
              <a:ext uri="{FF2B5EF4-FFF2-40B4-BE49-F238E27FC236}">
                <a16:creationId xmlns:a16="http://schemas.microsoft.com/office/drawing/2014/main" id="{B9909DD2-A698-81FD-B0C2-16B5390ACC70}"/>
              </a:ext>
            </a:extLst>
          </p:cNvPr>
          <p:cNvPicPr/>
          <p:nvPr/>
        </p:nvPicPr>
        <p:blipFill>
          <a:blip r:embed="rId2" cstate="print"/>
          <a:stretch>
            <a:fillRect/>
          </a:stretch>
        </p:blipFill>
        <p:spPr>
          <a:xfrm>
            <a:off x="944880" y="2318766"/>
            <a:ext cx="4937760" cy="2657274"/>
          </a:xfrm>
          <a:prstGeom prst="rect">
            <a:avLst/>
          </a:prstGeom>
        </p:spPr>
      </p:pic>
      <p:pic>
        <p:nvPicPr>
          <p:cNvPr id="5" name="object 5">
            <a:extLst>
              <a:ext uri="{FF2B5EF4-FFF2-40B4-BE49-F238E27FC236}">
                <a16:creationId xmlns:a16="http://schemas.microsoft.com/office/drawing/2014/main" id="{AF77B188-3ABB-86C9-2A13-FA37F9C226FB}"/>
              </a:ext>
            </a:extLst>
          </p:cNvPr>
          <p:cNvPicPr/>
          <p:nvPr/>
        </p:nvPicPr>
        <p:blipFill>
          <a:blip r:embed="rId3" cstate="print"/>
          <a:stretch>
            <a:fillRect/>
          </a:stretch>
        </p:blipFill>
        <p:spPr>
          <a:xfrm>
            <a:off x="6614162" y="2175849"/>
            <a:ext cx="5044438" cy="2943107"/>
          </a:xfrm>
          <a:prstGeom prst="rect">
            <a:avLst/>
          </a:prstGeom>
        </p:spPr>
      </p:pic>
      <p:pic>
        <p:nvPicPr>
          <p:cNvPr id="6" name="Picture 5">
            <a:extLst>
              <a:ext uri="{FF2B5EF4-FFF2-40B4-BE49-F238E27FC236}">
                <a16:creationId xmlns:a16="http://schemas.microsoft.com/office/drawing/2014/main" id="{58F7E386-00B9-E3D4-B626-C5E948DCA912}"/>
              </a:ext>
            </a:extLst>
          </p:cNvPr>
          <p:cNvPicPr>
            <a:picLocks noChangeAspect="1"/>
          </p:cNvPicPr>
          <p:nvPr/>
        </p:nvPicPr>
        <p:blipFill>
          <a:blip r:embed="rId4"/>
          <a:stretch>
            <a:fillRect/>
          </a:stretch>
        </p:blipFill>
        <p:spPr>
          <a:xfrm>
            <a:off x="87105" y="68826"/>
            <a:ext cx="3767140" cy="847337"/>
          </a:xfrm>
          <a:prstGeom prst="rect">
            <a:avLst/>
          </a:prstGeom>
        </p:spPr>
      </p:pic>
    </p:spTree>
    <p:extLst>
      <p:ext uri="{BB962C8B-B14F-4D97-AF65-F5344CB8AC3E}">
        <p14:creationId xmlns:p14="http://schemas.microsoft.com/office/powerpoint/2010/main" val="123657902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AEFA029-77F0-043B-C1F6-246DA7517FCD}"/>
              </a:ext>
            </a:extLst>
          </p:cNvPr>
          <p:cNvSpPr txBox="1"/>
          <p:nvPr/>
        </p:nvSpPr>
        <p:spPr>
          <a:xfrm>
            <a:off x="1371600" y="977652"/>
            <a:ext cx="9723120" cy="954107"/>
          </a:xfrm>
          <a:prstGeom prst="rect">
            <a:avLst/>
          </a:prstGeom>
          <a:noFill/>
        </p:spPr>
        <p:txBody>
          <a:bodyPr wrap="square">
            <a:spAutoFit/>
          </a:bodyPr>
          <a:lstStyle/>
          <a:p>
            <a:pPr algn="ctr"/>
            <a:r>
              <a:rPr lang="en-US" sz="2800" b="1" dirty="0"/>
              <a:t>23.What</a:t>
            </a:r>
            <a:r>
              <a:rPr lang="en-US" sz="2800" b="1" spc="40" dirty="0"/>
              <a:t> </a:t>
            </a:r>
            <a:r>
              <a:rPr lang="en-US" sz="2800" b="1" dirty="0"/>
              <a:t>is</a:t>
            </a:r>
            <a:r>
              <a:rPr lang="en-US" sz="2800" b="1" spc="35" dirty="0"/>
              <a:t> </a:t>
            </a:r>
            <a:r>
              <a:rPr lang="en-US" sz="2800" b="1" dirty="0"/>
              <a:t>the</a:t>
            </a:r>
            <a:r>
              <a:rPr lang="en-US" sz="2800" b="1" spc="-35" dirty="0"/>
              <a:t> </a:t>
            </a:r>
            <a:r>
              <a:rPr lang="en-US" sz="2800" b="1" dirty="0"/>
              <a:t>relationship</a:t>
            </a:r>
            <a:r>
              <a:rPr lang="en-US" sz="2800" b="1" spc="-5" dirty="0"/>
              <a:t> </a:t>
            </a:r>
            <a:r>
              <a:rPr lang="en-US" sz="2800" b="1" dirty="0"/>
              <a:t>between</a:t>
            </a:r>
            <a:r>
              <a:rPr lang="en-US" sz="2800" b="1" spc="-20" dirty="0"/>
              <a:t> </a:t>
            </a:r>
            <a:r>
              <a:rPr lang="en-US" sz="2800" b="1" dirty="0"/>
              <a:t>quantity</a:t>
            </a:r>
            <a:r>
              <a:rPr lang="en-US" sz="2800" b="1" spc="-35" dirty="0"/>
              <a:t> </a:t>
            </a:r>
            <a:r>
              <a:rPr lang="en-US" sz="2800" b="1" dirty="0"/>
              <a:t>ordered</a:t>
            </a:r>
            <a:r>
              <a:rPr lang="en-US" sz="2800" b="1" spc="-25" dirty="0"/>
              <a:t> </a:t>
            </a:r>
            <a:r>
              <a:rPr lang="en-US" sz="2800" b="1" dirty="0"/>
              <a:t>and</a:t>
            </a:r>
            <a:r>
              <a:rPr lang="en-US" sz="2800" b="1" spc="-15" dirty="0"/>
              <a:t> </a:t>
            </a:r>
            <a:r>
              <a:rPr lang="en-US" sz="2800" b="1" dirty="0"/>
              <a:t>total</a:t>
            </a:r>
            <a:r>
              <a:rPr lang="en-US" sz="2800" b="1" spc="-65" dirty="0"/>
              <a:t> </a:t>
            </a:r>
            <a:r>
              <a:rPr lang="en-US" sz="2800" b="1" spc="-10" dirty="0"/>
              <a:t>price?</a:t>
            </a:r>
            <a:endParaRPr lang="en-IN" sz="2800" b="1" dirty="0"/>
          </a:p>
        </p:txBody>
      </p:sp>
      <p:pic>
        <p:nvPicPr>
          <p:cNvPr id="4" name="object 4">
            <a:extLst>
              <a:ext uri="{FF2B5EF4-FFF2-40B4-BE49-F238E27FC236}">
                <a16:creationId xmlns:a16="http://schemas.microsoft.com/office/drawing/2014/main" id="{78A2B27E-526A-34BF-D368-A343403FF447}"/>
              </a:ext>
            </a:extLst>
          </p:cNvPr>
          <p:cNvPicPr/>
          <p:nvPr/>
        </p:nvPicPr>
        <p:blipFill>
          <a:blip r:embed="rId2" cstate="print"/>
          <a:stretch>
            <a:fillRect/>
          </a:stretch>
        </p:blipFill>
        <p:spPr>
          <a:xfrm>
            <a:off x="1127760" y="2430779"/>
            <a:ext cx="4084319" cy="2247901"/>
          </a:xfrm>
          <a:prstGeom prst="rect">
            <a:avLst/>
          </a:prstGeom>
        </p:spPr>
      </p:pic>
      <p:pic>
        <p:nvPicPr>
          <p:cNvPr id="7" name="object 5">
            <a:extLst>
              <a:ext uri="{FF2B5EF4-FFF2-40B4-BE49-F238E27FC236}">
                <a16:creationId xmlns:a16="http://schemas.microsoft.com/office/drawing/2014/main" id="{FE12FE3A-C946-B193-15AB-FBA544C4302C}"/>
              </a:ext>
            </a:extLst>
          </p:cNvPr>
          <p:cNvPicPr/>
          <p:nvPr/>
        </p:nvPicPr>
        <p:blipFill>
          <a:blip r:embed="rId3" cstate="print"/>
          <a:stretch>
            <a:fillRect/>
          </a:stretch>
        </p:blipFill>
        <p:spPr>
          <a:xfrm>
            <a:off x="5760719" y="3569969"/>
            <a:ext cx="5623561" cy="2362200"/>
          </a:xfrm>
          <a:prstGeom prst="rect">
            <a:avLst/>
          </a:prstGeom>
        </p:spPr>
      </p:pic>
      <p:pic>
        <p:nvPicPr>
          <p:cNvPr id="8" name="Picture 7">
            <a:extLst>
              <a:ext uri="{FF2B5EF4-FFF2-40B4-BE49-F238E27FC236}">
                <a16:creationId xmlns:a16="http://schemas.microsoft.com/office/drawing/2014/main" id="{36DD2B79-7752-36C3-5745-B923C6C17E8E}"/>
              </a:ext>
            </a:extLst>
          </p:cNvPr>
          <p:cNvPicPr>
            <a:picLocks noChangeAspect="1"/>
          </p:cNvPicPr>
          <p:nvPr/>
        </p:nvPicPr>
        <p:blipFill>
          <a:blip r:embed="rId4"/>
          <a:stretch>
            <a:fillRect/>
          </a:stretch>
        </p:blipFill>
        <p:spPr>
          <a:xfrm>
            <a:off x="87105" y="68826"/>
            <a:ext cx="3767140" cy="847337"/>
          </a:xfrm>
          <a:prstGeom prst="rect">
            <a:avLst/>
          </a:prstGeom>
        </p:spPr>
      </p:pic>
    </p:spTree>
    <p:extLst>
      <p:ext uri="{BB962C8B-B14F-4D97-AF65-F5344CB8AC3E}">
        <p14:creationId xmlns:p14="http://schemas.microsoft.com/office/powerpoint/2010/main" val="267669306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3BE656F-30B3-CD02-A37B-067ABCA13E36}"/>
              </a:ext>
            </a:extLst>
          </p:cNvPr>
          <p:cNvSpPr txBox="1"/>
          <p:nvPr/>
        </p:nvSpPr>
        <p:spPr>
          <a:xfrm>
            <a:off x="1460938" y="916162"/>
            <a:ext cx="8521262" cy="954107"/>
          </a:xfrm>
          <a:prstGeom prst="rect">
            <a:avLst/>
          </a:prstGeom>
          <a:noFill/>
        </p:spPr>
        <p:txBody>
          <a:bodyPr wrap="square">
            <a:spAutoFit/>
          </a:bodyPr>
          <a:lstStyle/>
          <a:p>
            <a:pPr algn="ctr"/>
            <a:r>
              <a:rPr lang="en-US" sz="2800" b="1" dirty="0"/>
              <a:t>24.What</a:t>
            </a:r>
            <a:r>
              <a:rPr lang="en-US" sz="2800" b="1" spc="15" dirty="0"/>
              <a:t> </a:t>
            </a:r>
            <a:r>
              <a:rPr lang="en-US" sz="2800" b="1" dirty="0"/>
              <a:t>is</a:t>
            </a:r>
            <a:r>
              <a:rPr lang="en-US" sz="2800" b="1" spc="45" dirty="0"/>
              <a:t> </a:t>
            </a:r>
            <a:r>
              <a:rPr lang="en-US" sz="2800" b="1" dirty="0"/>
              <a:t>the</a:t>
            </a:r>
            <a:r>
              <a:rPr lang="en-US" sz="2800" b="1" spc="-25" dirty="0"/>
              <a:t> </a:t>
            </a:r>
            <a:r>
              <a:rPr lang="en-US" sz="2800" b="1" dirty="0"/>
              <a:t>average</a:t>
            </a:r>
            <a:r>
              <a:rPr lang="en-US" sz="2800" b="1" spc="-35" dirty="0"/>
              <a:t> </a:t>
            </a:r>
            <a:r>
              <a:rPr lang="en-US" sz="2800" b="1" dirty="0"/>
              <a:t>quantity</a:t>
            </a:r>
            <a:r>
              <a:rPr lang="en-US" sz="2800" b="1" spc="-25" dirty="0"/>
              <a:t> </a:t>
            </a:r>
            <a:r>
              <a:rPr lang="en-US" sz="2800" b="1" dirty="0"/>
              <a:t>ordered</a:t>
            </a:r>
            <a:r>
              <a:rPr lang="en-US" sz="2800" b="1" spc="-25" dirty="0"/>
              <a:t> </a:t>
            </a:r>
            <a:r>
              <a:rPr lang="en-US" sz="2800" b="1" dirty="0"/>
              <a:t>per</a:t>
            </a:r>
            <a:r>
              <a:rPr lang="en-US" sz="2800" b="1" spc="-100" dirty="0"/>
              <a:t> </a:t>
            </a:r>
            <a:r>
              <a:rPr lang="en-US" sz="2800" b="1" spc="-10" dirty="0"/>
              <a:t>product?</a:t>
            </a:r>
            <a:endParaRPr lang="en-IN" sz="2800" b="1" dirty="0"/>
          </a:p>
        </p:txBody>
      </p:sp>
      <p:pic>
        <p:nvPicPr>
          <p:cNvPr id="4" name="object 4">
            <a:extLst>
              <a:ext uri="{FF2B5EF4-FFF2-40B4-BE49-F238E27FC236}">
                <a16:creationId xmlns:a16="http://schemas.microsoft.com/office/drawing/2014/main" id="{D062012D-8BC8-74D9-1EC8-F7BC9D2631CB}"/>
              </a:ext>
            </a:extLst>
          </p:cNvPr>
          <p:cNvPicPr/>
          <p:nvPr/>
        </p:nvPicPr>
        <p:blipFill>
          <a:blip r:embed="rId2" cstate="print"/>
          <a:stretch>
            <a:fillRect/>
          </a:stretch>
        </p:blipFill>
        <p:spPr>
          <a:xfrm>
            <a:off x="542544" y="2342769"/>
            <a:ext cx="5553456" cy="3134868"/>
          </a:xfrm>
          <a:prstGeom prst="rect">
            <a:avLst/>
          </a:prstGeom>
        </p:spPr>
      </p:pic>
      <p:pic>
        <p:nvPicPr>
          <p:cNvPr id="6" name="object 5">
            <a:extLst>
              <a:ext uri="{FF2B5EF4-FFF2-40B4-BE49-F238E27FC236}">
                <a16:creationId xmlns:a16="http://schemas.microsoft.com/office/drawing/2014/main" id="{BB8C78EA-DC97-3CB0-2639-5B385478E177}"/>
              </a:ext>
            </a:extLst>
          </p:cNvPr>
          <p:cNvPicPr/>
          <p:nvPr/>
        </p:nvPicPr>
        <p:blipFill>
          <a:blip r:embed="rId3" cstate="print"/>
          <a:stretch>
            <a:fillRect/>
          </a:stretch>
        </p:blipFill>
        <p:spPr>
          <a:xfrm>
            <a:off x="7432391" y="2176876"/>
            <a:ext cx="3642360" cy="4097274"/>
          </a:xfrm>
          <a:prstGeom prst="rect">
            <a:avLst/>
          </a:prstGeom>
        </p:spPr>
      </p:pic>
      <p:pic>
        <p:nvPicPr>
          <p:cNvPr id="7" name="Picture 6">
            <a:extLst>
              <a:ext uri="{FF2B5EF4-FFF2-40B4-BE49-F238E27FC236}">
                <a16:creationId xmlns:a16="http://schemas.microsoft.com/office/drawing/2014/main" id="{A154257B-EC2E-4C9D-B80C-DA6D6C186673}"/>
              </a:ext>
            </a:extLst>
          </p:cNvPr>
          <p:cNvPicPr>
            <a:picLocks noChangeAspect="1"/>
          </p:cNvPicPr>
          <p:nvPr/>
        </p:nvPicPr>
        <p:blipFill>
          <a:blip r:embed="rId4"/>
          <a:stretch>
            <a:fillRect/>
          </a:stretch>
        </p:blipFill>
        <p:spPr>
          <a:xfrm>
            <a:off x="87105" y="68826"/>
            <a:ext cx="3767140" cy="847337"/>
          </a:xfrm>
          <a:prstGeom prst="rect">
            <a:avLst/>
          </a:prstGeom>
        </p:spPr>
      </p:pic>
    </p:spTree>
    <p:extLst>
      <p:ext uri="{BB962C8B-B14F-4D97-AF65-F5344CB8AC3E}">
        <p14:creationId xmlns:p14="http://schemas.microsoft.com/office/powerpoint/2010/main" val="105644703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B91AF1A-F288-ACF9-4195-A0B466E421C1}"/>
              </a:ext>
            </a:extLst>
          </p:cNvPr>
          <p:cNvSpPr txBox="1"/>
          <p:nvPr/>
        </p:nvSpPr>
        <p:spPr>
          <a:xfrm>
            <a:off x="1587062" y="866894"/>
            <a:ext cx="9324778" cy="954107"/>
          </a:xfrm>
          <a:prstGeom prst="rect">
            <a:avLst/>
          </a:prstGeom>
          <a:noFill/>
        </p:spPr>
        <p:txBody>
          <a:bodyPr wrap="square">
            <a:spAutoFit/>
          </a:bodyPr>
          <a:lstStyle/>
          <a:p>
            <a:pPr algn="ctr"/>
            <a:r>
              <a:rPr lang="en-US" sz="2800" b="1" dirty="0"/>
              <a:t>25.How</a:t>
            </a:r>
            <a:r>
              <a:rPr lang="en-US" sz="2800" b="1" spc="-30" dirty="0"/>
              <a:t> </a:t>
            </a:r>
            <a:r>
              <a:rPr lang="en-US" sz="2800" b="1" dirty="0"/>
              <a:t>does</a:t>
            </a:r>
            <a:r>
              <a:rPr lang="en-US" sz="2800" b="1" spc="-45" dirty="0"/>
              <a:t> </a:t>
            </a:r>
            <a:r>
              <a:rPr lang="en-US" sz="2800" b="1" dirty="0"/>
              <a:t>the</a:t>
            </a:r>
            <a:r>
              <a:rPr lang="en-US" sz="2800" b="1" spc="-30" dirty="0"/>
              <a:t> </a:t>
            </a:r>
            <a:r>
              <a:rPr lang="en-US" sz="2800" b="1" dirty="0"/>
              <a:t>unit</a:t>
            </a:r>
            <a:r>
              <a:rPr lang="en-US" sz="2800" b="1" spc="-25" dirty="0"/>
              <a:t> </a:t>
            </a:r>
            <a:r>
              <a:rPr lang="en-US" sz="2800" b="1" dirty="0"/>
              <a:t>price</a:t>
            </a:r>
            <a:r>
              <a:rPr lang="en-US" sz="2800" b="1" spc="-35" dirty="0"/>
              <a:t> </a:t>
            </a:r>
            <a:r>
              <a:rPr lang="en-US" sz="2800" b="1" dirty="0"/>
              <a:t>vary</a:t>
            </a:r>
            <a:r>
              <a:rPr lang="en-US" sz="2800" b="1" spc="-40" dirty="0"/>
              <a:t> </a:t>
            </a:r>
            <a:r>
              <a:rPr lang="en-US" sz="2800" b="1" dirty="0"/>
              <a:t>across</a:t>
            </a:r>
            <a:r>
              <a:rPr lang="en-US" sz="2800" b="1" spc="-35" dirty="0"/>
              <a:t> </a:t>
            </a:r>
            <a:r>
              <a:rPr lang="en-US" sz="2800" b="1" dirty="0"/>
              <a:t>products</a:t>
            </a:r>
            <a:r>
              <a:rPr lang="en-US" sz="2800" b="1" spc="-35" dirty="0"/>
              <a:t> </a:t>
            </a:r>
            <a:r>
              <a:rPr lang="en-US" sz="2800" b="1" dirty="0"/>
              <a:t>and</a:t>
            </a:r>
            <a:r>
              <a:rPr lang="en-US" sz="2800" b="1" spc="-30" dirty="0"/>
              <a:t> </a:t>
            </a:r>
            <a:r>
              <a:rPr lang="en-US" sz="2800" b="1" spc="-10" dirty="0"/>
              <a:t>orders?</a:t>
            </a:r>
            <a:endParaRPr lang="en-IN" sz="2800" b="1" dirty="0"/>
          </a:p>
        </p:txBody>
      </p:sp>
      <p:pic>
        <p:nvPicPr>
          <p:cNvPr id="4" name="object 4">
            <a:extLst>
              <a:ext uri="{FF2B5EF4-FFF2-40B4-BE49-F238E27FC236}">
                <a16:creationId xmlns:a16="http://schemas.microsoft.com/office/drawing/2014/main" id="{AB89762E-9341-43F2-866F-6DB12E939361}"/>
              </a:ext>
            </a:extLst>
          </p:cNvPr>
          <p:cNvPicPr/>
          <p:nvPr/>
        </p:nvPicPr>
        <p:blipFill>
          <a:blip r:embed="rId2" cstate="print"/>
          <a:stretch>
            <a:fillRect/>
          </a:stretch>
        </p:blipFill>
        <p:spPr>
          <a:xfrm>
            <a:off x="544540" y="2412490"/>
            <a:ext cx="4437889" cy="2662429"/>
          </a:xfrm>
          <a:prstGeom prst="rect">
            <a:avLst/>
          </a:prstGeom>
        </p:spPr>
      </p:pic>
      <p:pic>
        <p:nvPicPr>
          <p:cNvPr id="5" name="object 5">
            <a:extLst>
              <a:ext uri="{FF2B5EF4-FFF2-40B4-BE49-F238E27FC236}">
                <a16:creationId xmlns:a16="http://schemas.microsoft.com/office/drawing/2014/main" id="{15DDE93E-8B38-5883-3719-AD674CE40043}"/>
              </a:ext>
            </a:extLst>
          </p:cNvPr>
          <p:cNvPicPr/>
          <p:nvPr/>
        </p:nvPicPr>
        <p:blipFill>
          <a:blip r:embed="rId3" cstate="print"/>
          <a:stretch>
            <a:fillRect/>
          </a:stretch>
        </p:blipFill>
        <p:spPr>
          <a:xfrm>
            <a:off x="6309360" y="1964750"/>
            <a:ext cx="3992880" cy="4125469"/>
          </a:xfrm>
          <a:prstGeom prst="rect">
            <a:avLst/>
          </a:prstGeom>
        </p:spPr>
      </p:pic>
      <p:pic>
        <p:nvPicPr>
          <p:cNvPr id="6" name="Picture 5">
            <a:extLst>
              <a:ext uri="{FF2B5EF4-FFF2-40B4-BE49-F238E27FC236}">
                <a16:creationId xmlns:a16="http://schemas.microsoft.com/office/drawing/2014/main" id="{82CD14BB-B362-7077-A9AF-5773082F040E}"/>
              </a:ext>
            </a:extLst>
          </p:cNvPr>
          <p:cNvPicPr>
            <a:picLocks noChangeAspect="1"/>
          </p:cNvPicPr>
          <p:nvPr/>
        </p:nvPicPr>
        <p:blipFill>
          <a:blip r:embed="rId4"/>
          <a:stretch>
            <a:fillRect/>
          </a:stretch>
        </p:blipFill>
        <p:spPr>
          <a:xfrm>
            <a:off x="87105" y="68826"/>
            <a:ext cx="3767140" cy="847337"/>
          </a:xfrm>
          <a:prstGeom prst="rect">
            <a:avLst/>
          </a:prstGeom>
        </p:spPr>
      </p:pic>
    </p:spTree>
    <p:extLst>
      <p:ext uri="{BB962C8B-B14F-4D97-AF65-F5344CB8AC3E}">
        <p14:creationId xmlns:p14="http://schemas.microsoft.com/office/powerpoint/2010/main" val="81122193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C0D147F-0578-4974-5D21-EADA09AD65AC}"/>
              </a:ext>
            </a:extLst>
          </p:cNvPr>
          <p:cNvSpPr txBox="1"/>
          <p:nvPr/>
        </p:nvSpPr>
        <p:spPr>
          <a:xfrm>
            <a:off x="4716780" y="716280"/>
            <a:ext cx="2758440" cy="646331"/>
          </a:xfrm>
          <a:prstGeom prst="rect">
            <a:avLst/>
          </a:prstGeom>
          <a:noFill/>
        </p:spPr>
        <p:txBody>
          <a:bodyPr wrap="square" rtlCol="0">
            <a:spAutoFit/>
          </a:bodyPr>
          <a:lstStyle/>
          <a:p>
            <a:r>
              <a:rPr lang="en-IN" sz="3600" b="1" dirty="0"/>
              <a:t>conclusion</a:t>
            </a:r>
          </a:p>
        </p:txBody>
      </p:sp>
      <p:sp>
        <p:nvSpPr>
          <p:cNvPr id="4" name="TextBox 3">
            <a:extLst>
              <a:ext uri="{FF2B5EF4-FFF2-40B4-BE49-F238E27FC236}">
                <a16:creationId xmlns:a16="http://schemas.microsoft.com/office/drawing/2014/main" id="{3695B5BE-AF62-D92F-DD03-F8557044083E}"/>
              </a:ext>
            </a:extLst>
          </p:cNvPr>
          <p:cNvSpPr txBox="1"/>
          <p:nvPr/>
        </p:nvSpPr>
        <p:spPr>
          <a:xfrm>
            <a:off x="777240" y="1628507"/>
            <a:ext cx="11049000" cy="2308324"/>
          </a:xfrm>
          <a:prstGeom prst="rect">
            <a:avLst/>
          </a:prstGeom>
          <a:noFill/>
        </p:spPr>
        <p:txBody>
          <a:bodyPr wrap="square">
            <a:spAutoFit/>
          </a:bodyPr>
          <a:lstStyle/>
          <a:p>
            <a:r>
              <a:rPr lang="en-IN" sz="2400" dirty="0">
                <a:effectLst>
                  <a:outerShdw blurRad="38100" dist="38100" dir="2700000" algn="tl">
                    <a:srgbClr val="000000">
                      <a:alpha val="43137"/>
                    </a:srgbClr>
                  </a:outerShdw>
                </a:effectLst>
              </a:rPr>
              <a:t>The Grocery Store Management System using SQL helps in organizing and managing grocery store operations efficiently. It reduces manual work and improves accuracy in handling product, customer, and sales data. By using SQL queries and relational database concepts, the system allows quick data retrieval, better inventory control, and effective sales management. Overall, it makes grocery store operations faster, more reliable, and easier to manage.</a:t>
            </a:r>
          </a:p>
        </p:txBody>
      </p:sp>
      <p:pic>
        <p:nvPicPr>
          <p:cNvPr id="5" name="Picture 4">
            <a:extLst>
              <a:ext uri="{FF2B5EF4-FFF2-40B4-BE49-F238E27FC236}">
                <a16:creationId xmlns:a16="http://schemas.microsoft.com/office/drawing/2014/main" id="{F1109622-6F87-39ED-27B0-79F75418BF30}"/>
              </a:ext>
            </a:extLst>
          </p:cNvPr>
          <p:cNvPicPr>
            <a:picLocks noChangeAspect="1"/>
          </p:cNvPicPr>
          <p:nvPr/>
        </p:nvPicPr>
        <p:blipFill>
          <a:blip r:embed="rId2"/>
          <a:stretch>
            <a:fillRect/>
          </a:stretch>
        </p:blipFill>
        <p:spPr>
          <a:xfrm>
            <a:off x="87105" y="68826"/>
            <a:ext cx="3767140" cy="847337"/>
          </a:xfrm>
          <a:prstGeom prst="rect">
            <a:avLst/>
          </a:prstGeom>
        </p:spPr>
      </p:pic>
    </p:spTree>
    <p:extLst>
      <p:ext uri="{BB962C8B-B14F-4D97-AF65-F5344CB8AC3E}">
        <p14:creationId xmlns:p14="http://schemas.microsoft.com/office/powerpoint/2010/main" val="239676595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116" name="Google Shape;116;p5"/>
          <p:cNvPicPr preferRelativeResize="0"/>
          <p:nvPr/>
        </p:nvPicPr>
        <p:blipFill rotWithShape="1">
          <a:blip r:embed="rId3">
            <a:alphaModFix/>
          </a:blip>
          <a:srcRect/>
          <a:stretch/>
        </p:blipFill>
        <p:spPr>
          <a:xfrm>
            <a:off x="6466516" y="1850749"/>
            <a:ext cx="4465643" cy="2834317"/>
          </a:xfrm>
          <a:prstGeom prst="rect">
            <a:avLst/>
          </a:prstGeom>
          <a:noFill/>
          <a:ln>
            <a:noFill/>
          </a:ln>
        </p:spPr>
      </p:pic>
      <p:sp>
        <p:nvSpPr>
          <p:cNvPr id="117" name="Google Shape;117;p5"/>
          <p:cNvSpPr txBox="1"/>
          <p:nvPr/>
        </p:nvSpPr>
        <p:spPr>
          <a:xfrm>
            <a:off x="1244600" y="2997200"/>
            <a:ext cx="3661836" cy="76944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C00000"/>
              </a:buClr>
              <a:buSzPts val="4400"/>
              <a:buFont typeface="Libre Baskerville"/>
              <a:buNone/>
            </a:pPr>
            <a:r>
              <a:rPr lang="en-IN" sz="4400" b="0" i="0" u="none" strike="noStrike" cap="none" dirty="0">
                <a:solidFill>
                  <a:srgbClr val="C00000"/>
                </a:solidFill>
                <a:latin typeface="Libre Baskerville"/>
                <a:ea typeface="Libre Baskerville"/>
                <a:cs typeface="Libre Baskerville"/>
                <a:sym typeface="Libre Baskerville"/>
              </a:rPr>
              <a:t>THANK YOU</a:t>
            </a:r>
            <a:endParaRPr sz="1800" b="0" i="0" u="none" strike="noStrike" cap="none" dirty="0">
              <a:solidFill>
                <a:schemeClr val="dk1"/>
              </a:solidFill>
              <a:latin typeface="Calibri"/>
              <a:ea typeface="Calibri"/>
              <a:cs typeface="Calibri"/>
              <a:sym typeface="Calibri"/>
            </a:endParaRPr>
          </a:p>
        </p:txBody>
      </p:sp>
      <p:pic>
        <p:nvPicPr>
          <p:cNvPr id="2" name="Picture 1">
            <a:extLst>
              <a:ext uri="{FF2B5EF4-FFF2-40B4-BE49-F238E27FC236}">
                <a16:creationId xmlns:a16="http://schemas.microsoft.com/office/drawing/2014/main" id="{B9F3DAF6-5821-7311-AD9A-FC82E47637EB}"/>
              </a:ext>
            </a:extLst>
          </p:cNvPr>
          <p:cNvPicPr>
            <a:picLocks noChangeAspect="1"/>
          </p:cNvPicPr>
          <p:nvPr/>
        </p:nvPicPr>
        <p:blipFill>
          <a:blip r:embed="rId4"/>
          <a:stretch>
            <a:fillRect/>
          </a:stretch>
        </p:blipFill>
        <p:spPr>
          <a:xfrm>
            <a:off x="87105" y="68826"/>
            <a:ext cx="3767140" cy="847337"/>
          </a:xfrm>
          <a:prstGeom prst="rect">
            <a:avLst/>
          </a:prstGeom>
        </p:spPr>
      </p:pic>
    </p:spTree>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Facet</Template>
  <TotalTime>0</TotalTime>
  <Words>614</Words>
  <Application>Microsoft Office PowerPoint</Application>
  <PresentationFormat>Widescreen</PresentationFormat>
  <Paragraphs>59</Paragraphs>
  <Slides>33</Slides>
  <Notes>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33</vt:i4>
      </vt:variant>
    </vt:vector>
  </HeadingPairs>
  <TitlesOfParts>
    <vt:vector size="41" baseType="lpstr">
      <vt:lpstr>Trebuchet MS</vt:lpstr>
      <vt:lpstr>Calibri</vt:lpstr>
      <vt:lpstr>Wingdings 3</vt:lpstr>
      <vt:lpstr>Arial</vt:lpstr>
      <vt:lpstr>Times New Roman</vt:lpstr>
      <vt:lpstr>Arial MT</vt:lpstr>
      <vt:lpstr>Libre Baskerville</vt:lpstr>
      <vt:lpstr>Facet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Raghu Ram Aduri</dc:creator>
  <cp:lastModifiedBy>SATISH TALLURI</cp:lastModifiedBy>
  <cp:revision>1</cp:revision>
  <dcterms:created xsi:type="dcterms:W3CDTF">2021-02-16T05:19:01Z</dcterms:created>
  <dcterms:modified xsi:type="dcterms:W3CDTF">2026-03-07T10:16:01Z</dcterms:modified>
</cp:coreProperties>
</file>